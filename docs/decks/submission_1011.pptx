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1" r:id="rId21"/>
  </p:sldIdLst>
  <p:sldSz cy="5143500" cx="9144000"/>
  <p:notesSz cx="6858000" cy="9144000"/>
  <p:embeddedFontLst>
    <p:embeddedFont>
      <p:font typeface="Google Sans Flex Medium"/>
      <p:regular r:id="rId22"/>
      <p:bold r:id="rId23"/>
    </p:embeddedFont>
    <p:embeddedFont>
      <p:font typeface="Google Sans Flex"/>
      <p:regular r:id="rId24"/>
      <p:bold r:id="rId25"/>
    </p:embeddedFont>
    <p:embeddedFont>
      <p:font typeface="Google Sans Flex SemiBold"/>
      <p:regular r:id="rId26"/>
      <p:bold r:id="rId2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1" Type="http://schemas.openxmlformats.org/officeDocument/2006/relationships/slide" Target="slides/slide16.xml"/><Relationship Id="rId22" Type="http://schemas.openxmlformats.org/officeDocument/2006/relationships/font" Target="fonts/GoogleSansFlexMedium-regular.fntdata"/><Relationship Id="rId23" Type="http://schemas.openxmlformats.org/officeDocument/2006/relationships/font" Target="fonts/GoogleSansFlexMedium-bold.fntdata"/><Relationship Id="rId24" Type="http://schemas.openxmlformats.org/officeDocument/2006/relationships/font" Target="fonts/GoogleSansFlex-regular.fntdata"/><Relationship Id="rId25" Type="http://schemas.openxmlformats.org/officeDocument/2006/relationships/font" Target="fonts/GoogleSansFlex-bold.fntdata"/><Relationship Id="rId26" Type="http://schemas.openxmlformats.org/officeDocument/2006/relationships/font" Target="fonts/GoogleSansFlexSemiBold-regular.fntdata"/><Relationship Id="rId27" Type="http://schemas.openxmlformats.org/officeDocument/2006/relationships/font" Target="fonts/GoogleSansFlexSemiBold-bold.fntdata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2" name="Google Shape;52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팀 정보. 문제 정의는 예전 제출본처럼 한 문장으로 쓰되, 지금 서비스(규정 위반 발언, 틀린 상품 정보)에 맞췄다.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g3fb085bff3c_0_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7" name="Google Shape;67;g3fb085bff3c_0_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사용자가 고친 예전 판(진행자 → Gemini → 결과 아이콘 흐름)을 그대로 쓰고, 내용은 10/11 배포본(revision 00028)에서 실제로 넣은 문장과 화면 결과로 바꿨다. 문장은 텍스트로 넣었다(음성이 아님, 화면에 '(typed)' 표시). 시간은 화면에 표시된 Shown in 값.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g3fb085bff3c_0_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" name="Google Shape;74;g3fb085bff3c_0_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예전 제출본의 시장·위험 숫자와 출처(각주 1~4)를 그대로 썼다. 중국 규정 제31조(방송 중 말실수는 현장에서 바로잡는다)가 '말로 정정하면 경고가 사라지는' 흐름의 근거다. 비교표에는 실제 회사 이름을 넣지 않았다(근거 없는 경쟁 비교를 피함, GPT 의견).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g3fb085bff3c_0_1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" name="Google Shape;82;g3fb085bff3c_0_1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세 칸: 방송 전(다른 팀: 제품·규정 업로드와 승인), 방송 중 진행자 말(우리 팀: STT 판정), 방송 중 시청자 질문(다른 팀: 댓글). 아래 줄: 방송 후 요약.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g3fb085bff3c_0_2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" name="Google Shape;90;g3fb085bff3c_0_2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네 줄이 같은 다섯 칸 격자를 쓴다. 파랑 = Gemini, 초록 = 사람 또는 결과, 빨강 = 진행자가 고칠 것. 판정 AI는 승인된 것만 읽는다(빨강: 규정 파일, 주황: 프롬프터 내용).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fb085bff3c_0_2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3fb085bff3c_0_2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진행자 화면 구조도(실제 캡처는 10장). 번호 1~5: 방송 시계와 지금/다음 상품, 빨강(규정 조항과 읽을 한 문장), 주황(맞는 값), 프롬프터 체크, 사람이 필요한 시청자 질문과 추천 답변.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g3fb085bff3c_0_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06" name="Google Shape;106;g3fb085bff3c_0_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예전 3단 구조(입력·출력 | Cloud Run | 관리형 서비스)를 그대로 쓰고 내용을 바꿨다. 가운데 Cloud Run 안에 판정 AI 4개(규정·사실·문맥·프롬프터)를 색으로 구분했다.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g3fb085bff3c_0_3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4" name="Google Shape;114;g3fb085bff3c_0_3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로고 나열 대신 '서비스 | 설정 | 맡은 일' 표(GPT·Gemini 공통 의견).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g3fb085bff3c_0_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2" name="Google Shape;122;g3fb085bff3c_0_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비용: Firestore agent_calls의 토큰(2개 방송, 진행자 문장 14개, 10/11 배포본) × 공식 단가. 3.5 Flash-Lite 입력 $0.30, 캐시 $0.03, 출력 $2.50, 3.8 Flash 입력 $0.75, 출력 $3.75 (12/31까지, 2027년 2배). STT Standard(chirp 포함) $0.016/분. 1시간 600문장은 가정. 헤지(느린 호출에 두 번째 요청)는 기록되지 않아 빠졌다. 사실 확인은 10/15에 3.8 Flash로 바뀌어 같은 토큰으로 추정했다(D-466: 시간당 약 +$0.5).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g3fb085bff3c_0_4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0" name="Google Shape;130;g3fb085bff3c_0_4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10/11 배포본에서 만든 한 방송의 캡처 4장(검토 의견: 6장은 글씨가 안 보여 4장으로 키움). 진행자 문장은 텍스트로 넣었다(음성 아님). 원본 1920x1080 캡처는 스크래치패드에 있다.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fb085bff3c_0_5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38" name="Google Shape;138;g3fb085bff3c_0_5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README의 측정값 그대로(docs/eval/sealed-set-10-results.md). 세트 10, 지금 설정(규정 Flash-Lite LOW, 사실 3.8 Flash LOW), Gemini가 느리던 10/15 밤: 탐지 52/54, 놓친 2줄은 사실 확인 답이 끝내 오지 않은 줄. 다른 규정 설정 3개(10/14)는 54/54. 코드 규칙 vs 모델 판정(세트 5, 진단용). 댓글 수치는 다른 팀의 docs/comments.md(1회, 233개 댓글).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g3fb085bff3c_0_5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6" name="Google Shape;146;g3fb085bff3c_0_5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왼쪽(초록 체크 = 지금 있음): 법적 판단이 아님, 대체 문구는 승인된 문구에서만, 사람 확인 질문, 모든 AI 호출 기록, 제품별 프롬프트 없음. 오른쪽(파랑 더하기 = 계획): 느린 날 사실 확인 속도, 사람 진행자 시험, 더 큰 봉인 세트, 비용 기록 보완, BigQuery.</a:t>
            </a: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g3fb085bff3c_0_6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54" name="Google Shape;154;g3fb085bff3c_0_6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r>
              <a:t>링크 세 칸(양식 문구 그대로). 데모 영상과 제품 링크는 아직 없다. 제품 링크는 지금 IAP 로그인 뒤에 있어서, 심사위원이 열 수 있게 할지 정해야 한다. 체험 3단계: 쇼 시작 → 위반 문장 말하기 → 보여 준 문장 읽고 경고가 사라지는 것 보기.</a:t>
            </a: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g3fb085bff3c_0_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9" name="Google Shape;169;g3fb085bff3c_0_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5" name="Google Shape;15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8" name="Google Shape;18;p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04800" lvl="0" marL="4572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indent="-304800" lvl="1" marL="9144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indent="-304800" lvl="2" marL="13716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indent="-304800" lvl="3" marL="1828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indent="-304800" lvl="4" marL="22860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indent="-304800" lvl="5" marL="27432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indent="-304800" lvl="6" marL="32004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indent="-304800" lvl="7" marL="36576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indent="-304800" lvl="8" marL="411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342900" lvl="0" marL="4572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hasCustomPrompt="1"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indent="-317500" lvl="1" marL="9144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rmAutofit/>
          </a:bodyPr>
          <a:lstStyle>
            <a:lvl1pPr indent="-3429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indent="-31750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indent="-31750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indent="-31750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indent="-31750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indent="-31750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indent="-31750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indent="-31750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indent="-31750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hyperlink" Target="https://blog.google/company-news/inside-google/around-the-globe/google-asia/sea-economy-2025/" TargetMode="External"/><Relationship Id="rId6" Type="http://schemas.openxmlformats.org/officeDocument/2006/relationships/hyperlink" Target="https://www.cac.gov.cn/2025-07/28/c_1755417344368120.htm" TargetMode="External"/><Relationship Id="rId7" Type="http://schemas.openxmlformats.org/officeDocument/2006/relationships/hyperlink" Target="https://www.kca.go.kr/smartconsumer/board/download.do?menukey=7301&amp;fno=10030206&amp;bid=00000146&amp;did=1003136730" TargetMode="External"/><Relationship Id="rId8" Type="http://schemas.openxmlformats.org/officeDocument/2006/relationships/hyperlink" Target="https://www.cac.gov.cn/2026-01/07/c_1769516655383334.htm" TargetMode="Externa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image" Target="../media/image1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image" Target="../media/image9.png"/><Relationship Id="rId6" Type="http://schemas.openxmlformats.org/officeDocument/2006/relationships/image" Target="../media/image1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png"/><Relationship Id="rId4" Type="http://schemas.openxmlformats.org/officeDocument/2006/relationships/image" Target="../media/image1.png"/><Relationship Id="rId5" Type="http://schemas.openxmlformats.org/officeDocument/2006/relationships/hyperlink" Target="https://github.com/jwchoiKR/ai_builder_cup_uh" TargetMode="Externa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46600" y="2902694"/>
            <a:ext cx="8760000" cy="2003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1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Team Details</a:t>
            </a:r>
            <a:endParaRPr sz="21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name: </a:t>
            </a:r>
            <a:r>
              <a:rPr sz="1500" b="1">
                <a:solidFill>
                  <a:srgbClr val="202124"/>
                </a:solidFill>
                <a:latin typeface="Google Sans Flex"/>
              </a:rPr>
              <a:t> Uh?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Team leader name: </a:t>
            </a:r>
            <a:r>
              <a:rPr sz="1500" b="1">
                <a:solidFill>
                  <a:srgbClr val="202124"/>
                </a:solidFill>
                <a:latin typeface="Google Sans Flex"/>
              </a:rPr>
              <a:t> Jaewoo Choi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-342900" lvl="1" marL="914400" rtl="0" algn="l">
              <a:spcBef>
                <a:spcPts val="0"/>
              </a:spcBef>
              <a:spcAft>
                <a:spcPts val="0"/>
              </a:spcAft>
              <a:buSzPts val="1800"/>
              <a:buFont typeface="Google Sans Flex"/>
              <a:buAutoNum type="alphaLcPeriod"/>
            </a:pPr>
            <a:r>
              <a:rPr lang="en-GB" sz="1800">
                <a:latin typeface="Google Sans Flex"/>
                <a:ea typeface="Google Sans Flex"/>
                <a:cs typeface="Google Sans Flex"/>
                <a:sym typeface="Google Sans Flex"/>
              </a:rPr>
              <a:t>Problem Statement: </a:t>
            </a:r>
            <a:r>
              <a:rPr sz="1300" b="0">
                <a:solidFill>
                  <a:srgbClr val="202124"/>
                </a:solidFill>
                <a:latin typeface="Google Sans Flex"/>
              </a:rPr>
              <a:t> Live-commerce hosts speak unscripted for hours. A wrong price or a claim the regulations forbid ("this cream treats eczema") can reach viewers before anyone corrects it.</a:t>
            </a:r>
            <a:endParaRPr sz="1800">
              <a:latin typeface="Google Sans Flex"/>
              <a:ea typeface="Google Sans Flex"/>
              <a:cs typeface="Google Sans Flex"/>
              <a:sym typeface="Google Sans Flex"/>
            </a:endParaRPr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pic>
        <p:nvPicPr>
          <p:cNvPr id="55" name="Google Shape;55;p13" title="Frame 144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-3"/>
            <a:ext cx="9144000" cy="2715526"/>
          </a:xfrm>
          <a:prstGeom prst="rect">
            <a:avLst/>
          </a:prstGeom>
          <a:noFill/>
          <a:ln>
            <a:noFill/>
          </a:ln>
        </p:spPr>
      </p:pic>
      <p:pic>
        <p:nvPicPr>
          <p:cNvPr id="56" name="Google Shape;56;p13" title="Frame 144.png"/>
          <p:cNvPicPr preferRelativeResize="0"/>
          <p:nvPr/>
        </p:nvPicPr>
        <p:blipFill rotWithShape="1">
          <a:blip r:embed="rId4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9" name="Google Shape;69;p15" title="Group 42731997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0" name="Google Shape;70;p1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1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Brief about the idea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72" name="TextBox 71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It checks what the host says, while they say it, and clears when they fix it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365760" y="1389888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A show on the deployed app (10/11), lines typed into the live judging path. Each final line goes to four Gemini judges at once.</a:t>
            </a:r>
          </a:p>
        </p:txBody>
      </p:sp>
      <p:pic>
        <p:nvPicPr>
          <p:cNvPr id="74" name="Picture 73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1819656"/>
            <a:ext cx="310896" cy="310896"/>
          </a:xfrm>
          <a:prstGeom prst="rect">
            <a:avLst/>
          </a:prstGeom>
        </p:spPr>
      </p:pic>
      <p:sp>
        <p:nvSpPr>
          <p:cNvPr id="75" name="Rounded Rectangle 74"/>
          <p:cNvSpPr/>
          <p:nvPr/>
        </p:nvSpPr>
        <p:spPr>
          <a:xfrm>
            <a:off x="786384" y="1682496"/>
            <a:ext cx="2743200" cy="585216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1050" b="0">
                <a:solidFill>
                  <a:srgbClr val="202124"/>
                </a:solidFill>
                <a:latin typeface="Google Sans Flex"/>
              </a:rPr>
              <a:t>"And honestly, this cream treats eczema, so your eczema will be gone."</a:t>
            </a:r>
          </a:p>
        </p:txBody>
      </p:sp>
      <p:sp>
        <p:nvSpPr>
          <p:cNvPr id="76" name="Right Arrow 75"/>
          <p:cNvSpPr/>
          <p:nvPr/>
        </p:nvSpPr>
        <p:spPr>
          <a:xfrm>
            <a:off x="3593592" y="1920240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7" name="Picture 7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056" y="1819656"/>
            <a:ext cx="310896" cy="310896"/>
          </a:xfrm>
          <a:prstGeom prst="rect">
            <a:avLst/>
          </a:prstGeom>
        </p:spPr>
      </p:pic>
      <p:sp>
        <p:nvSpPr>
          <p:cNvPr id="78" name="Rounded Rectangle 77"/>
          <p:cNvSpPr/>
          <p:nvPr/>
        </p:nvSpPr>
        <p:spPr>
          <a:xfrm>
            <a:off x="4261104" y="1682496"/>
            <a:ext cx="2103120" cy="585216"/>
          </a:xfrm>
          <a:prstGeom prst="roundRect">
            <a:avLst>
              <a:gd name="adj" fmla="val 1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Compliance judge</a:t>
            </a:r>
          </a:p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Disease claim: ASEAN cosmetic claims guideline, App. III 2.d</a:t>
            </a:r>
          </a:p>
        </p:txBody>
      </p:sp>
      <p:sp>
        <p:nvSpPr>
          <p:cNvPr id="79" name="Right Arrow 78"/>
          <p:cNvSpPr/>
          <p:nvPr/>
        </p:nvSpPr>
        <p:spPr>
          <a:xfrm>
            <a:off x="6428232" y="1920240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ounded Rectangle 79"/>
          <p:cNvSpPr/>
          <p:nvPr/>
        </p:nvSpPr>
        <p:spPr>
          <a:xfrm>
            <a:off x="6711696" y="1682496"/>
            <a:ext cx="2066543" cy="585216"/>
          </a:xfrm>
          <a:prstGeom prst="roundRect">
            <a:avLst>
              <a:gd name="adj" fmla="val 12000"/>
            </a:avLst>
          </a:prstGeom>
          <a:solidFill>
            <a:srgbClr val="FCE8E6"/>
          </a:solidFill>
          <a:ln w="9525">
            <a:solidFill>
              <a:srgbClr val="D93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1" name="Picture 8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03136" y="1856232"/>
            <a:ext cx="237744" cy="237744"/>
          </a:xfrm>
          <a:prstGeom prst="rect">
            <a:avLst/>
          </a:prstGeom>
        </p:spPr>
      </p:pic>
      <p:sp>
        <p:nvSpPr>
          <p:cNvPr id="82" name="TextBox 81"/>
          <p:cNvSpPr txBox="1"/>
          <p:nvPr/>
        </p:nvSpPr>
        <p:spPr>
          <a:xfrm>
            <a:off x="7114032" y="1682496"/>
            <a:ext cx="1627632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D93025"/>
                </a:solidFill>
                <a:latin typeface="Google Sans Flex"/>
              </a:rPr>
              <a:t>Red box in 1.3 s</a:t>
            </a:r>
          </a:p>
          <a:p>
            <a:pPr algn="l"/>
            <a:r>
              <a:rPr sz="850" b="0">
                <a:solidFill>
                  <a:srgbClr val="D93025"/>
                </a:solidFill>
                <a:latin typeface="Google Sans Flex"/>
              </a:rPr>
              <a:t>"Sorry, I take that back. Helps relieve the feeling of dryness."</a:t>
            </a:r>
          </a:p>
        </p:txBody>
      </p:sp>
      <p:pic>
        <p:nvPicPr>
          <p:cNvPr id="83" name="Picture 82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2487168"/>
            <a:ext cx="310896" cy="310896"/>
          </a:xfrm>
          <a:prstGeom prst="rect">
            <a:avLst/>
          </a:prstGeom>
        </p:spPr>
      </p:pic>
      <p:sp>
        <p:nvSpPr>
          <p:cNvPr id="84" name="Rounded Rectangle 83"/>
          <p:cNvSpPr/>
          <p:nvPr/>
        </p:nvSpPr>
        <p:spPr>
          <a:xfrm>
            <a:off x="786384" y="2350008"/>
            <a:ext cx="2743200" cy="585216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1050" b="0">
                <a:solidFill>
                  <a:srgbClr val="202124"/>
                </a:solidFill>
                <a:latin typeface="Google Sans Flex"/>
              </a:rPr>
              <a:t>"Today's live price is just S$32."</a:t>
            </a:r>
          </a:p>
        </p:txBody>
      </p:sp>
      <p:sp>
        <p:nvSpPr>
          <p:cNvPr id="85" name="Right Arrow 84"/>
          <p:cNvSpPr/>
          <p:nvPr/>
        </p:nvSpPr>
        <p:spPr>
          <a:xfrm>
            <a:off x="3593592" y="2587752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6" name="Picture 8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056" y="2487168"/>
            <a:ext cx="310896" cy="310896"/>
          </a:xfrm>
          <a:prstGeom prst="rect">
            <a:avLst/>
          </a:prstGeom>
        </p:spPr>
      </p:pic>
      <p:sp>
        <p:nvSpPr>
          <p:cNvPr id="87" name="Rounded Rectangle 86"/>
          <p:cNvSpPr/>
          <p:nvPr/>
        </p:nvSpPr>
        <p:spPr>
          <a:xfrm>
            <a:off x="4261104" y="2350008"/>
            <a:ext cx="2103120" cy="585216"/>
          </a:xfrm>
          <a:prstGeom prst="roundRect">
            <a:avLst>
              <a:gd name="adj" fmla="val 1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Fact checker</a:t>
            </a:r>
          </a:p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The prompter shows S$36.00</a:t>
            </a:r>
          </a:p>
        </p:txBody>
      </p:sp>
      <p:sp>
        <p:nvSpPr>
          <p:cNvPr id="88" name="Right Arrow 87"/>
          <p:cNvSpPr/>
          <p:nvPr/>
        </p:nvSpPr>
        <p:spPr>
          <a:xfrm>
            <a:off x="6428232" y="2587752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ounded Rectangle 88"/>
          <p:cNvSpPr/>
          <p:nvPr/>
        </p:nvSpPr>
        <p:spPr>
          <a:xfrm>
            <a:off x="6711696" y="2350008"/>
            <a:ext cx="2066543" cy="585216"/>
          </a:xfrm>
          <a:prstGeom prst="roundRect">
            <a:avLst>
              <a:gd name="adj" fmla="val 12000"/>
            </a:avLst>
          </a:prstGeom>
          <a:solidFill>
            <a:srgbClr val="FEF7E0"/>
          </a:solidFill>
          <a:ln w="9525">
            <a:solidFill>
              <a:srgbClr val="B06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0" name="Picture 8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03136" y="2523744"/>
            <a:ext cx="237744" cy="237744"/>
          </a:xfrm>
          <a:prstGeom prst="rect">
            <a:avLst/>
          </a:prstGeom>
        </p:spPr>
      </p:pic>
      <p:sp>
        <p:nvSpPr>
          <p:cNvPr id="91" name="TextBox 90"/>
          <p:cNvSpPr txBox="1"/>
          <p:nvPr/>
        </p:nvSpPr>
        <p:spPr>
          <a:xfrm>
            <a:off x="7114032" y="2350008"/>
            <a:ext cx="1627632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06000"/>
                </a:solidFill>
                <a:latin typeface="Google Sans Flex"/>
              </a:rPr>
              <a:t>Orange box in 0.8 s</a:t>
            </a:r>
          </a:p>
          <a:p>
            <a:pPr algn="l"/>
            <a:r>
              <a:rPr sz="950" b="0">
                <a:solidFill>
                  <a:srgbClr val="B06000"/>
                </a:solidFill>
                <a:latin typeface="Google Sans Flex"/>
              </a:rPr>
              <a:t>The live price is S$36.00.</a:t>
            </a:r>
          </a:p>
        </p:txBody>
      </p:sp>
      <p:pic>
        <p:nvPicPr>
          <p:cNvPr id="92" name="Picture 91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3154679"/>
            <a:ext cx="310896" cy="310896"/>
          </a:xfrm>
          <a:prstGeom prst="rect">
            <a:avLst/>
          </a:prstGeom>
        </p:spPr>
      </p:pic>
      <p:sp>
        <p:nvSpPr>
          <p:cNvPr id="93" name="Rounded Rectangle 92"/>
          <p:cNvSpPr/>
          <p:nvPr/>
        </p:nvSpPr>
        <p:spPr>
          <a:xfrm>
            <a:off x="786384" y="3017520"/>
            <a:ext cx="2743200" cy="585216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1050" b="0">
                <a:solidFill>
                  <a:srgbClr val="202124"/>
                </a:solidFill>
                <a:latin typeface="Google Sans Flex"/>
              </a:rPr>
              <a:t>"Sorry, I take that back. It helps relieve the feeling of dryness." · "My mistake, the live price is S$36."</a:t>
            </a:r>
          </a:p>
        </p:txBody>
      </p:sp>
      <p:sp>
        <p:nvSpPr>
          <p:cNvPr id="94" name="Right Arrow 93"/>
          <p:cNvSpPr/>
          <p:nvPr/>
        </p:nvSpPr>
        <p:spPr>
          <a:xfrm>
            <a:off x="3593592" y="3255263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5" name="Picture 9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056" y="3154679"/>
            <a:ext cx="310896" cy="310896"/>
          </a:xfrm>
          <a:prstGeom prst="rect">
            <a:avLst/>
          </a:prstGeom>
        </p:spPr>
      </p:pic>
      <p:sp>
        <p:nvSpPr>
          <p:cNvPr id="96" name="Rounded Rectangle 95"/>
          <p:cNvSpPr/>
          <p:nvPr/>
        </p:nvSpPr>
        <p:spPr>
          <a:xfrm>
            <a:off x="4261104" y="3017520"/>
            <a:ext cx="2103120" cy="585216"/>
          </a:xfrm>
          <a:prstGeom prst="roundRect">
            <a:avLst>
              <a:gd name="adj" fmla="val 1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Same judges, next lines</a:t>
            </a:r>
          </a:p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The claim is withdrawn; the right price is said</a:t>
            </a:r>
          </a:p>
        </p:txBody>
      </p:sp>
      <p:sp>
        <p:nvSpPr>
          <p:cNvPr id="97" name="Right Arrow 96"/>
          <p:cNvSpPr/>
          <p:nvPr/>
        </p:nvSpPr>
        <p:spPr>
          <a:xfrm>
            <a:off x="6428232" y="3255263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ounded Rectangle 97"/>
          <p:cNvSpPr/>
          <p:nvPr/>
        </p:nvSpPr>
        <p:spPr>
          <a:xfrm>
            <a:off x="6711696" y="3017520"/>
            <a:ext cx="2066543" cy="585216"/>
          </a:xfrm>
          <a:prstGeom prst="roundRect">
            <a:avLst>
              <a:gd name="adj" fmla="val 12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9" name="Picture 98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191256"/>
            <a:ext cx="237744" cy="237744"/>
          </a:xfrm>
          <a:prstGeom prst="rect">
            <a:avLst/>
          </a:prstGeom>
        </p:spPr>
      </p:pic>
      <p:sp>
        <p:nvSpPr>
          <p:cNvPr id="100" name="TextBox 99"/>
          <p:cNvSpPr txBox="1"/>
          <p:nvPr/>
        </p:nvSpPr>
        <p:spPr>
          <a:xfrm>
            <a:off x="7114032" y="3017520"/>
            <a:ext cx="1627632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E8E3E"/>
                </a:solidFill>
                <a:latin typeface="Google Sans Flex"/>
              </a:rPr>
              <a:t>Both boxes clear</a:t>
            </a:r>
          </a:p>
          <a:p>
            <a:pPr algn="l"/>
            <a:r>
              <a:rPr sz="950" b="0">
                <a:solidFill>
                  <a:srgbClr val="1E8E3E"/>
                </a:solidFill>
                <a:latin typeface="Google Sans Flex"/>
              </a:rPr>
              <a:t>in the host's own words</a:t>
            </a:r>
          </a:p>
        </p:txBody>
      </p:sp>
      <p:pic>
        <p:nvPicPr>
          <p:cNvPr id="101" name="Picture 100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84048" y="3822192"/>
            <a:ext cx="310896" cy="310896"/>
          </a:xfrm>
          <a:prstGeom prst="rect">
            <a:avLst/>
          </a:prstGeom>
        </p:spPr>
      </p:pic>
      <p:sp>
        <p:nvSpPr>
          <p:cNvPr id="102" name="Rounded Rectangle 101"/>
          <p:cNvSpPr/>
          <p:nvPr/>
        </p:nvSpPr>
        <p:spPr>
          <a:xfrm>
            <a:off x="786384" y="3685032"/>
            <a:ext cx="2743200" cy="585216"/>
          </a:xfrm>
          <a:prstGeom prst="roundRect">
            <a:avLst>
              <a:gd name="adj" fmla="val 12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1050" b="0">
                <a:solidFill>
                  <a:srgbClr val="202124"/>
                </a:solidFill>
                <a:latin typeface="Google Sans Flex"/>
              </a:rPr>
              <a:t>"It keeps your skin hydrated for up to 24 hours, in our in-house test." · "Okay, next, let me show you the ampoule."</a:t>
            </a:r>
          </a:p>
        </p:txBody>
      </p:sp>
      <p:sp>
        <p:nvSpPr>
          <p:cNvPr id="103" name="Right Arrow 102"/>
          <p:cNvSpPr/>
          <p:nvPr/>
        </p:nvSpPr>
        <p:spPr>
          <a:xfrm>
            <a:off x="3593592" y="3922776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4" name="Picture 10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77056" y="3822192"/>
            <a:ext cx="310896" cy="310896"/>
          </a:xfrm>
          <a:prstGeom prst="rect">
            <a:avLst/>
          </a:prstGeom>
        </p:spPr>
      </p:pic>
      <p:sp>
        <p:nvSpPr>
          <p:cNvPr id="105" name="Rounded Rectangle 104"/>
          <p:cNvSpPr/>
          <p:nvPr/>
        </p:nvSpPr>
        <p:spPr>
          <a:xfrm>
            <a:off x="4261104" y="3685032"/>
            <a:ext cx="2103120" cy="585216"/>
          </a:xfrm>
          <a:prstGeom prst="roundRect">
            <a:avLst>
              <a:gd name="adj" fmla="val 12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Prompter and context judges</a:t>
            </a:r>
          </a:p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Full point said · "next" + the next product's category</a:t>
            </a:r>
          </a:p>
        </p:txBody>
      </p:sp>
      <p:sp>
        <p:nvSpPr>
          <p:cNvPr id="106" name="Right Arrow 105"/>
          <p:cNvSpPr/>
          <p:nvPr/>
        </p:nvSpPr>
        <p:spPr>
          <a:xfrm>
            <a:off x="6428232" y="3922776"/>
            <a:ext cx="219456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Rounded Rectangle 106"/>
          <p:cNvSpPr/>
          <p:nvPr/>
        </p:nvSpPr>
        <p:spPr>
          <a:xfrm>
            <a:off x="6711696" y="3685032"/>
            <a:ext cx="2066543" cy="585216"/>
          </a:xfrm>
          <a:prstGeom prst="roundRect">
            <a:avLst>
              <a:gd name="adj" fmla="val 12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8" name="Picture 107" descr="image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03136" y="3858768"/>
            <a:ext cx="237744" cy="237744"/>
          </a:xfrm>
          <a:prstGeom prst="rect">
            <a:avLst/>
          </a:prstGeom>
        </p:spPr>
      </p:pic>
      <p:sp>
        <p:nvSpPr>
          <p:cNvPr id="109" name="TextBox 108"/>
          <p:cNvSpPr txBox="1"/>
          <p:nvPr/>
        </p:nvSpPr>
        <p:spPr>
          <a:xfrm>
            <a:off x="7114032" y="3685032"/>
            <a:ext cx="1627632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E8E3E"/>
                </a:solidFill>
                <a:latin typeface="Google Sans Flex"/>
              </a:rPr>
              <a:t>Point ticked · prompter moves on</a:t>
            </a:r>
          </a:p>
          <a:p>
            <a:pPr algn="l"/>
            <a:r>
              <a:rPr sz="950" b="0">
                <a:solidFill>
                  <a:srgbClr val="1E8E3E"/>
                </a:solidFill>
                <a:latin typeface="Google Sans Flex"/>
              </a:rPr>
              <a:t>no click by the host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365760" y="4389120"/>
            <a:ext cx="84124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54864" bIns="54864" wrap="square"/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Viewer questions: </a:t>
            </a:r>
            <a:r>
              <a:rPr sz="950" b="0">
                <a:solidFill>
                  <a:srgbClr val="202124"/>
                </a:solidFill>
                <a:latin typeface="Google Sans Flex"/>
              </a:rPr>
              <a:t>answered automatically when the product record answers them ("how much is it today?" got the live price in 4.3 s); health questions ("I get redness easily...") go to the host's screen with a suggested reply.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6" name="Google Shape;76;p1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77" name="Google Shape;77;p1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78" name="Google Shape;78;p1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9" name="Google Shape;79;p16"/>
          <p:cNvSpPr txBox="1"/>
          <p:nvPr/>
        </p:nvSpPr>
        <p:spPr>
          <a:xfrm>
            <a:off x="265350" y="663825"/>
            <a:ext cx="8943000" cy="13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  <a:t>Opportunities</a:t>
            </a:r>
            <a:br>
              <a:rPr lang="en-GB" sz="1600">
                <a:latin typeface="Google Sans Flex SemiBold"/>
                <a:ea typeface="Google Sans Flex SemiBold"/>
                <a:cs typeface="Google Sans Flex SemiBold"/>
                <a:sym typeface="Google Sans Flex SemiBold"/>
              </a:rPr>
            </a:br>
            <a:endParaRPr sz="1600">
              <a:latin typeface="Google Sans Flex SemiBold"/>
              <a:ea typeface="Google Sans Flex SemiBold"/>
              <a:cs typeface="Google Sans Flex SemiBold"/>
              <a:sym typeface="Google Sans Flex SemiBold"/>
            </a:endParaRPr>
          </a:p>
        </p:txBody>
      </p:sp>
      <p:sp>
        <p:nvSpPr>
          <p:cNvPr id="80" name="TextBox 79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Checks against the regulation text, and the host fixes it on air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365760" y="1417320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Why now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365760" y="1645920"/>
            <a:ext cx="268224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493776" y="1709928"/>
            <a:ext cx="2426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Market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493776" y="1874519"/>
            <a:ext cx="113995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202124"/>
                </a:solidFill>
                <a:latin typeface="Google Sans Flex"/>
              </a:rPr>
              <a:t>25%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493776" y="2194560"/>
            <a:ext cx="11399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video commerce share of SEA e-commerce (2025, forecast)</a:t>
            </a:r>
            <a:r>
              <a:rPr sz="800" b="1" baseline="30000">
                <a:solidFill>
                  <a:srgbClr val="1A73E8"/>
                </a:solidFill>
                <a:latin typeface="Google Sans Flex"/>
              </a:rPr>
              <a:t>1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780032" y="1874519"/>
            <a:ext cx="113995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202124"/>
                </a:solidFill>
                <a:latin typeface="Google Sans Flex"/>
              </a:rPr>
              <a:t>~600M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80032" y="2194560"/>
            <a:ext cx="11399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live-commerce users in China (2024)</a:t>
            </a:r>
            <a:r>
              <a:rPr sz="800" b="1" baseline="30000">
                <a:solidFill>
                  <a:srgbClr val="1A73E8"/>
                </a:solidFill>
                <a:latin typeface="Google Sans Flex"/>
              </a:rPr>
              <a:t>2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230880" y="1645920"/>
            <a:ext cx="268224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358896" y="1709928"/>
            <a:ext cx="2426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Risky claims on air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3358896" y="1874519"/>
            <a:ext cx="2426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202124"/>
                </a:solidFill>
                <a:latin typeface="Google Sans Flex"/>
              </a:rPr>
              <a:t>30 / 120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3358896" y="2194560"/>
            <a:ext cx="2426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Korean live shows with suspected unfair ad claims (2020)</a:t>
            </a:r>
            <a:r>
              <a:rPr sz="800" b="1" baseline="30000">
                <a:solidFill>
                  <a:srgbClr val="1A73E8"/>
                </a:solidFill>
                <a:latin typeface="Google Sans Flex"/>
              </a:rPr>
              <a:t>3</a:t>
            </a:r>
          </a:p>
        </p:txBody>
      </p:sp>
      <p:sp>
        <p:nvSpPr>
          <p:cNvPr id="92" name="Rounded Rectangle 91"/>
          <p:cNvSpPr/>
          <p:nvPr/>
        </p:nvSpPr>
        <p:spPr>
          <a:xfrm>
            <a:off x="6096000" y="1645920"/>
            <a:ext cx="2682240" cy="932688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6224016" y="1709928"/>
            <a:ext cx="24262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Rules now ask for it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224016" y="1874519"/>
            <a:ext cx="2426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900" b="1">
                <a:solidFill>
                  <a:srgbClr val="202124"/>
                </a:solidFill>
                <a:latin typeface="Google Sans Flex"/>
              </a:rPr>
              <a:t>2026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224016" y="2194560"/>
            <a:ext cx="242620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China: misstatements said on air must be corrected on the spot (Art. 31)</a:t>
            </a:r>
            <a:r>
              <a:rPr sz="800" b="1" baseline="30000">
                <a:solidFill>
                  <a:srgbClr val="1A73E8"/>
                </a:solidFill>
                <a:latin typeface="Google Sans Flex"/>
              </a:rPr>
              <a:t>4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65760" y="2697480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How different is it from any of the other existing ideas?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2898648"/>
            <a:ext cx="2103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Common approach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2468880" y="2898648"/>
            <a:ext cx="26517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What it leaves out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5120640" y="2898648"/>
            <a:ext cx="3657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Ours</a:t>
            </a:r>
          </a:p>
        </p:txBody>
      </p:sp>
      <p:cxnSp>
        <p:nvCxnSpPr>
          <p:cNvPr id="100" name="Connector 99"/>
          <p:cNvCxnSpPr/>
          <p:nvPr/>
        </p:nvCxnSpPr>
        <p:spPr>
          <a:xfrm>
            <a:off x="365760" y="3145536"/>
            <a:ext cx="8412480" cy="0"/>
          </a:xfrm>
          <a:prstGeom prst="line">
            <a:avLst/>
          </a:prstGeom>
          <a:ln w="1587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1" name="TextBox 100"/>
          <p:cNvSpPr txBox="1"/>
          <p:nvPr/>
        </p:nvSpPr>
        <p:spPr>
          <a:xfrm>
            <a:off x="365760" y="3200400"/>
            <a:ext cx="2011679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Keyword lists of banned words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2468880" y="3200400"/>
            <a:ext cx="25603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Words, not meaning: negation, rephrasing, quotes</a:t>
            </a:r>
          </a:p>
        </p:txBody>
      </p:sp>
      <p:sp>
        <p:nvSpPr>
          <p:cNvPr id="103" name="TextBox 102"/>
          <p:cNvSpPr txBox="1"/>
          <p:nvPr/>
        </p:nvSpPr>
        <p:spPr>
          <a:xfrm>
            <a:off x="5120640" y="3200400"/>
            <a:ext cx="35661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Gemini reads the whole line against the regulation PDF itself</a:t>
            </a:r>
          </a:p>
        </p:txBody>
      </p:sp>
      <p:cxnSp>
        <p:nvCxnSpPr>
          <p:cNvPr id="104" name="Connector 103"/>
          <p:cNvCxnSpPr/>
          <p:nvPr/>
        </p:nvCxnSpPr>
        <p:spPr>
          <a:xfrm>
            <a:off x="365760" y="3392424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5" name="TextBox 104"/>
          <p:cNvSpPr txBox="1"/>
          <p:nvPr/>
        </p:nvSpPr>
        <p:spPr>
          <a:xfrm>
            <a:off x="365760" y="3429000"/>
            <a:ext cx="2011679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Compliance review after the show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2468880" y="3429000"/>
            <a:ext cx="25603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The claim has already gone out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5120640" y="3429000"/>
            <a:ext cx="35661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A red box in about 1-4 s, with a line to say instead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365760" y="3621024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TextBox 108"/>
          <p:cNvSpPr txBox="1"/>
          <p:nvPr/>
        </p:nvSpPr>
        <p:spPr>
          <a:xfrm>
            <a:off x="365760" y="3657600"/>
            <a:ext cx="2011679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Approving the script before air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2468880" y="3657600"/>
            <a:ext cx="256032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Hosts improvise; prices change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5120640" y="3657600"/>
            <a:ext cx="3566160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Checks unscripted speech and today's prices, live</a:t>
            </a:r>
          </a:p>
        </p:txBody>
      </p:sp>
      <p:cxnSp>
        <p:nvCxnSpPr>
          <p:cNvPr id="112" name="Connector 111"/>
          <p:cNvCxnSpPr/>
          <p:nvPr/>
        </p:nvCxnSpPr>
        <p:spPr>
          <a:xfrm>
            <a:off x="365760" y="3849624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3" name="Rounded Rectangle 112"/>
          <p:cNvSpPr/>
          <p:nvPr/>
        </p:nvSpPr>
        <p:spPr>
          <a:xfrm>
            <a:off x="365760" y="3877056"/>
            <a:ext cx="4114800" cy="8686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/>
            <a:r>
              <a:rPr sz="950" b="1">
                <a:solidFill>
                  <a:srgbClr val="1A73E8"/>
                </a:solidFill>
                <a:latin typeface="Google Sans Flex"/>
              </a:rPr>
              <a:t>How will it be able to solve the problem?</a:t>
            </a:r>
          </a:p>
          <a:p>
            <a:pPr algn="l">
              <a:spcBef>
                <a:spcPts val="100"/>
              </a:spcBef>
            </a:pPr>
            <a:r>
              <a:rPr sz="850" b="0">
                <a:solidFill>
                  <a:srgbClr val="202124"/>
                </a:solidFill>
                <a:latin typeface="Google Sans Flex"/>
              </a:rPr>
              <a:t>For brands and platforms that run their own live shows. The host reads a red or orange box from a distance, says the line shown, and the box clears. A solo host needs no operator; an operator can watch the same show.</a:t>
            </a:r>
          </a:p>
        </p:txBody>
      </p:sp>
      <p:sp>
        <p:nvSpPr>
          <p:cNvPr id="114" name="Rounded Rectangle 113"/>
          <p:cNvSpPr/>
          <p:nvPr/>
        </p:nvSpPr>
        <p:spPr>
          <a:xfrm>
            <a:off x="4663440" y="3877056"/>
            <a:ext cx="4114800" cy="868680"/>
          </a:xfrm>
          <a:prstGeom prst="roundRect">
            <a:avLst>
              <a:gd name="adj" fmla="val 6000"/>
            </a:avLst>
          </a:prstGeom>
          <a:solidFill>
            <a:srgbClr val="E8F0FE"/>
          </a:solidFill>
          <a:ln w="952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/>
            <a:r>
              <a:rPr sz="950" b="1">
                <a:solidFill>
                  <a:srgbClr val="1A73E8"/>
                </a:solidFill>
                <a:latin typeface="Google Sans Flex"/>
              </a:rPr>
              <a:t>USP of the proposed solution</a:t>
            </a:r>
          </a:p>
          <a:p>
            <a:pPr algn="l">
              <a:spcBef>
                <a:spcPts val="100"/>
              </a:spcBef>
            </a:pPr>
            <a:r>
              <a:rPr sz="850" b="1">
                <a:solidFill>
                  <a:srgbClr val="202124"/>
                </a:solidFill>
                <a:latin typeface="Google Sans Flex"/>
              </a:rPr>
              <a:t>Models judge meaning; code never overrules them. </a:t>
            </a:r>
            <a:r>
              <a:rPr sz="850" b="0">
                <a:solidFill>
                  <a:srgbClr val="202124"/>
                </a:solidFill>
                <a:latin typeface="Google Sans Flex"/>
              </a:rPr>
              <a:t>Any product enters through its own documents, with no product-specific prompts, and the correction is checked in the host's own words.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365760" y="4754880"/>
            <a:ext cx="8412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1" baseline="30000">
                <a:solidFill>
                  <a:srgbClr val="1A73E8"/>
                </a:solidFill>
                <a:latin typeface="Google Sans Flex"/>
              </a:rPr>
              <a:t>1 </a:t>
            </a:r>
            <a:r>
              <a:rPr sz="700" b="0">
                <a:solidFill>
                  <a:srgbClr val="5F6368"/>
                </a:solidFill>
                <a:latin typeface="Google Sans Flex"/>
              </a:rPr>
              <a:t>Google, Temasek, Bain, e-Conomy SEA 2025 (forecast): </a:t>
            </a:r>
            <a:r>
              <a:rPr sz="700" b="0">
                <a:solidFill>
                  <a:srgbClr val="1A73E8"/>
                </a:solidFill>
                <a:latin typeface="Google Sans Flex"/>
                <a:hlinkClick r:id="rId5"/>
              </a:rPr>
              <a:t>blog.google/…/sea-economy-2025</a:t>
            </a:r>
            <a:r>
              <a:rPr sz="700" b="1" baseline="30000">
                <a:solidFill>
                  <a:srgbClr val="1A73E8"/>
                </a:solidFill>
                <a:latin typeface="Google Sans Flex"/>
              </a:rPr>
              <a:t>   2 </a:t>
            </a:r>
            <a:r>
              <a:rPr sz="700" b="0">
                <a:solidFill>
                  <a:srgbClr val="5F6368"/>
                </a:solidFill>
                <a:latin typeface="Google Sans Flex"/>
              </a:rPr>
              <a:t>CFIS &amp; CIECC, China New E-commerce Development Report 2025: </a:t>
            </a:r>
            <a:r>
              <a:rPr sz="700" b="0">
                <a:solidFill>
                  <a:srgbClr val="1A73E8"/>
                </a:solidFill>
                <a:latin typeface="Google Sans Flex"/>
                <a:hlinkClick r:id="rId6"/>
              </a:rPr>
              <a:t>cac.gov.cn/2025-07/28</a:t>
            </a:r>
          </a:p>
          <a:p>
            <a:pPr algn="l"/>
            <a:r>
              <a:rPr sz="700" b="1" baseline="30000">
                <a:solidFill>
                  <a:srgbClr val="1A73E8"/>
                </a:solidFill>
                <a:latin typeface="Google Sans Flex"/>
              </a:rPr>
              <a:t>3 </a:t>
            </a:r>
            <a:r>
              <a:rPr sz="700" b="0">
                <a:solidFill>
                  <a:srgbClr val="5F6368"/>
                </a:solidFill>
                <a:latin typeface="Google Sans Flex"/>
              </a:rPr>
              <a:t>Korea Consumer Agency, Live Commerce Advertising Survey (2020): </a:t>
            </a:r>
            <a:r>
              <a:rPr sz="700" b="0">
                <a:solidFill>
                  <a:srgbClr val="1A73E8"/>
                </a:solidFill>
                <a:latin typeface="Google Sans Flex"/>
                <a:hlinkClick r:id="rId7"/>
              </a:rPr>
              <a:t>kca.go.kr (PDF)</a:t>
            </a:r>
            <a:r>
              <a:rPr sz="700" b="1" baseline="30000">
                <a:solidFill>
                  <a:srgbClr val="1A73E8"/>
                </a:solidFill>
                <a:latin typeface="Google Sans Flex"/>
              </a:rPr>
              <a:t>   4 </a:t>
            </a:r>
            <a:r>
              <a:rPr sz="700" b="0">
                <a:solidFill>
                  <a:srgbClr val="5F6368"/>
                </a:solidFill>
                <a:latin typeface="Google Sans Flex"/>
              </a:rPr>
              <a:t>SAMR &amp; CAC, Livestream E-commerce Supervision Measures, Art. 31 (2026): </a:t>
            </a:r>
            <a:r>
              <a:rPr sz="700" b="0">
                <a:solidFill>
                  <a:srgbClr val="1A73E8"/>
                </a:solidFill>
                <a:latin typeface="Google Sans Flex"/>
                <a:hlinkClick r:id="rId8"/>
              </a:rPr>
              <a:t>cac.gov.cn/2026-01/07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7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85" name="Google Shape;85;p17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86" name="Google Shape;86;p17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7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List of features offered by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88" name="TextBox 87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Before air people approve, on air the host only speaks, after air a recap</a:t>
            </a:r>
          </a:p>
        </p:txBody>
      </p:sp>
      <p:sp>
        <p:nvSpPr>
          <p:cNvPr id="89" name="Rounded Rectangle 88"/>
          <p:cNvSpPr/>
          <p:nvPr/>
        </p:nvSpPr>
        <p:spPr>
          <a:xfrm>
            <a:off x="365760" y="1536192"/>
            <a:ext cx="268224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374904" y="1545336"/>
            <a:ext cx="2663952" cy="365760"/>
          </a:xfrm>
          <a:prstGeom prst="rect">
            <a:avLst/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512064" y="1545336"/>
            <a:ext cx="2407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1A73E8"/>
                </a:solidFill>
                <a:latin typeface="Google Sans Flex"/>
              </a:rPr>
              <a:t>Before air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512064" y="2029968"/>
            <a:ext cx="2389632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Upload a product PDF; no fixed template to fill in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1A73E8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Gemini reads it into a product record: brand, category, prices, prompter points, speech terms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1A73E8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Upload the regulation PDFs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1A73E8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A person approves; nothing else is typed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3230880" y="1536192"/>
            <a:ext cx="268224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D93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3240023" y="1545336"/>
            <a:ext cx="2663952" cy="365760"/>
          </a:xfrm>
          <a:prstGeom prst="rect">
            <a:avLst/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3377184" y="1545336"/>
            <a:ext cx="2407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D93025"/>
                </a:solidFill>
                <a:latin typeface="Google Sans Flex"/>
              </a:rPr>
              <a:t>On air: what the host says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3377184" y="2029968"/>
            <a:ext cx="2389632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D93025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Red box: a claim a regulation clause forbids, the clause, a line to say instead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D93025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Orange box: a price or fact that differs from the prompter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D93025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Boxes clear when the host corrects it in any words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D93025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Prompter ticks a point only when its full meaning is said; "next" + name or category moves to the next product</a:t>
            </a:r>
          </a:p>
        </p:txBody>
      </p:sp>
      <p:sp>
        <p:nvSpPr>
          <p:cNvPr id="97" name="Rounded Rectangle 96"/>
          <p:cNvSpPr/>
          <p:nvPr/>
        </p:nvSpPr>
        <p:spPr>
          <a:xfrm>
            <a:off x="6096000" y="1536192"/>
            <a:ext cx="2682240" cy="2697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8E3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6105144" y="1545336"/>
            <a:ext cx="2663952" cy="365760"/>
          </a:xfrm>
          <a:prstGeom prst="rect">
            <a:avLst/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242304" y="1545336"/>
            <a:ext cx="24079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>
                <a:solidFill>
                  <a:srgbClr val="1E8E3E"/>
                </a:solidFill>
                <a:latin typeface="Google Sans Flex"/>
              </a:rPr>
              <a:t>On air: what viewers ask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6242304" y="2029968"/>
            <a:ext cx="2389632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E8E3E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Spam, abuse and prompt attacks screened (Model Armor)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1E8E3E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Answered automatically when the product record answers it, marked "AI answer"</a:t>
            </a:r>
          </a:p>
          <a:p>
            <a:pPr algn="l">
              <a:spcBef>
                <a:spcPts val="700"/>
              </a:spcBef>
            </a:pPr>
            <a:r>
              <a:rPr sz="1050" b="1">
                <a:solidFill>
                  <a:srgbClr val="1E8E3E"/>
                </a:solidFill>
                <a:latin typeface="Google Sans Flex"/>
              </a:rPr>
              <a:t>•  </a:t>
            </a:r>
            <a:r>
              <a:rPr sz="1050" b="0">
                <a:solidFill>
                  <a:srgbClr val="202124"/>
                </a:solidFill>
                <a:latin typeface="Google Sans Flex"/>
              </a:rPr>
              <a:t>Health, claims and test results wait for the host or the operator, with a suggested reply</a:t>
            </a:r>
          </a:p>
        </p:txBody>
      </p:sp>
      <p:sp>
        <p:nvSpPr>
          <p:cNvPr id="101" name="Rounded Rectangle 100"/>
          <p:cNvSpPr/>
          <p:nvPr/>
        </p:nvSpPr>
        <p:spPr>
          <a:xfrm>
            <a:off x="365760" y="4407408"/>
            <a:ext cx="8412480" cy="457200"/>
          </a:xfrm>
          <a:prstGeom prst="roundRect">
            <a:avLst>
              <a:gd name="adj" fmla="val 10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28016" rIns="128016" tIns="54864" bIns="54864" wrap="square"/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After air: </a:t>
            </a:r>
            <a:r>
              <a:rPr sz="950" b="0">
                <a:solidFill>
                  <a:srgbClr val="202124"/>
                </a:solidFill>
                <a:latin typeface="Google Sans Flex"/>
              </a:rPr>
              <a:t>an AI recap from the show's numbers (alerts and how long each took to fix, unanswered questions, missed points), exported as PDF or JSON.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2" name="Google Shape;92;p1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8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18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18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Process flow diagram or Use-case diagram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96" name="TextBox 95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One approval before air sets the evidence every judge uses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365760" y="1481328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A73E8"/>
                </a:solidFill>
                <a:latin typeface="Google Sans Flex"/>
              </a:rPr>
              <a:t>Before air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1417320" y="148132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Product PDF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uploaded</a:t>
            </a:r>
          </a:p>
        </p:txBody>
      </p:sp>
      <p:sp>
        <p:nvSpPr>
          <p:cNvPr id="99" name="Rounded Rectangle 98"/>
          <p:cNvSpPr/>
          <p:nvPr/>
        </p:nvSpPr>
        <p:spPr>
          <a:xfrm>
            <a:off x="2915107" y="148132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Read into a record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Gemini 3.8 Flash</a:t>
            </a:r>
          </a:p>
        </p:txBody>
      </p:sp>
      <p:sp>
        <p:nvSpPr>
          <p:cNvPr id="100" name="Right Arrow 99"/>
          <p:cNvSpPr/>
          <p:nvPr/>
        </p:nvSpPr>
        <p:spPr>
          <a:xfrm>
            <a:off x="2796235" y="170992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Rounded Rectangle 100"/>
          <p:cNvSpPr/>
          <p:nvPr/>
        </p:nvSpPr>
        <p:spPr>
          <a:xfrm>
            <a:off x="4412894" y="148132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Approve</a:t>
            </a:r>
          </a:p>
          <a:p>
            <a:pPr algn="l"/>
            <a:r>
              <a:rPr sz="850" b="0">
                <a:solidFill>
                  <a:srgbClr val="1E8E3E"/>
                </a:solidFill>
                <a:latin typeface="Google Sans Flex"/>
              </a:rPr>
              <a:t>a person</a:t>
            </a:r>
          </a:p>
        </p:txBody>
      </p:sp>
      <p:sp>
        <p:nvSpPr>
          <p:cNvPr id="102" name="Right Arrow 101"/>
          <p:cNvSpPr/>
          <p:nvPr/>
        </p:nvSpPr>
        <p:spPr>
          <a:xfrm>
            <a:off x="4294022" y="170992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3" name="Rounded Rectangle 102"/>
          <p:cNvSpPr/>
          <p:nvPr/>
        </p:nvSpPr>
        <p:spPr>
          <a:xfrm>
            <a:off x="5910681" y="148132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Regulation PDFs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uploaded as files</a:t>
            </a:r>
          </a:p>
        </p:txBody>
      </p:sp>
      <p:sp>
        <p:nvSpPr>
          <p:cNvPr id="104" name="Right Arrow 103"/>
          <p:cNvSpPr/>
          <p:nvPr/>
        </p:nvSpPr>
        <p:spPr>
          <a:xfrm>
            <a:off x="5791809" y="170992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5" name="Rounded Rectangle 104"/>
          <p:cNvSpPr/>
          <p:nvPr/>
        </p:nvSpPr>
        <p:spPr>
          <a:xfrm>
            <a:off x="7408468" y="148132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Release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product + regulations, in run order</a:t>
            </a:r>
          </a:p>
        </p:txBody>
      </p:sp>
      <p:sp>
        <p:nvSpPr>
          <p:cNvPr id="106" name="Right Arrow 105"/>
          <p:cNvSpPr/>
          <p:nvPr/>
        </p:nvSpPr>
        <p:spPr>
          <a:xfrm>
            <a:off x="7289596" y="170992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365760" y="2212848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A73E8"/>
                </a:solidFill>
                <a:latin typeface="Google Sans Flex"/>
              </a:rPr>
              <a:t>Host speech</a:t>
            </a:r>
          </a:p>
        </p:txBody>
      </p:sp>
      <p:sp>
        <p:nvSpPr>
          <p:cNvPr id="108" name="Rounded Rectangle 107"/>
          <p:cNvSpPr/>
          <p:nvPr/>
        </p:nvSpPr>
        <p:spPr>
          <a:xfrm>
            <a:off x="1417320" y="221284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Host mic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browser, WebSocket</a:t>
            </a:r>
          </a:p>
        </p:txBody>
      </p:sp>
      <p:sp>
        <p:nvSpPr>
          <p:cNvPr id="109" name="Rounded Rectangle 108"/>
          <p:cNvSpPr/>
          <p:nvPr/>
        </p:nvSpPr>
        <p:spPr>
          <a:xfrm>
            <a:off x="2915107" y="221284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Speech to text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Chirp 3, speech terms as hints</a:t>
            </a:r>
          </a:p>
        </p:txBody>
      </p:sp>
      <p:sp>
        <p:nvSpPr>
          <p:cNvPr id="110" name="Right Arrow 109"/>
          <p:cNvSpPr/>
          <p:nvPr/>
        </p:nvSpPr>
        <p:spPr>
          <a:xfrm>
            <a:off x="2796235" y="244144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Rounded Rectangle 110"/>
          <p:cNvSpPr/>
          <p:nvPr/>
        </p:nvSpPr>
        <p:spPr>
          <a:xfrm>
            <a:off x="4412894" y="221284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Final line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a split sentence is merged</a:t>
            </a:r>
          </a:p>
        </p:txBody>
      </p:sp>
      <p:sp>
        <p:nvSpPr>
          <p:cNvPr id="112" name="Right Arrow 111"/>
          <p:cNvSpPr/>
          <p:nvPr/>
        </p:nvSpPr>
        <p:spPr>
          <a:xfrm>
            <a:off x="4294022" y="244144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Rounded Rectangle 112"/>
          <p:cNvSpPr/>
          <p:nvPr/>
        </p:nvSpPr>
        <p:spPr>
          <a:xfrm>
            <a:off x="5910681" y="221284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4 judges at once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Gemini 3.5 Flash-Lite, 3.8 Flash</a:t>
            </a:r>
          </a:p>
        </p:txBody>
      </p:sp>
      <p:sp>
        <p:nvSpPr>
          <p:cNvPr id="114" name="Right Arrow 113"/>
          <p:cNvSpPr/>
          <p:nvPr/>
        </p:nvSpPr>
        <p:spPr>
          <a:xfrm>
            <a:off x="5791809" y="244144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Rounded Rectangle 114"/>
          <p:cNvSpPr/>
          <p:nvPr/>
        </p:nvSpPr>
        <p:spPr>
          <a:xfrm>
            <a:off x="7408468" y="221284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Host + operator</a:t>
            </a:r>
          </a:p>
          <a:p>
            <a:pPr algn="l"/>
            <a:r>
              <a:rPr sz="850" b="0">
                <a:solidFill>
                  <a:srgbClr val="D93025"/>
                </a:solidFill>
                <a:latin typeface="Google Sans Flex"/>
              </a:rPr>
              <a:t>red / orange box, ticks, switch</a:t>
            </a:r>
          </a:p>
        </p:txBody>
      </p:sp>
      <p:sp>
        <p:nvSpPr>
          <p:cNvPr id="116" name="Right Arrow 115"/>
          <p:cNvSpPr/>
          <p:nvPr/>
        </p:nvSpPr>
        <p:spPr>
          <a:xfrm>
            <a:off x="7289596" y="244144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365760" y="2944368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D93025"/>
                </a:solidFill>
                <a:latin typeface="Google Sans Flex"/>
              </a:rPr>
              <a:t>Correction</a:t>
            </a:r>
          </a:p>
        </p:txBody>
      </p:sp>
      <p:sp>
        <p:nvSpPr>
          <p:cNvPr id="118" name="Rounded Rectangle 117"/>
          <p:cNvSpPr/>
          <p:nvPr/>
        </p:nvSpPr>
        <p:spPr>
          <a:xfrm>
            <a:off x="1417320" y="294436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Next line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in the host's own words</a:t>
            </a:r>
          </a:p>
        </p:txBody>
      </p:sp>
      <p:sp>
        <p:nvSpPr>
          <p:cNvPr id="119" name="Rounded Rectangle 118"/>
          <p:cNvSpPr/>
          <p:nvPr/>
        </p:nvSpPr>
        <p:spPr>
          <a:xfrm>
            <a:off x="2915107" y="294436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Same judges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is this alert corrected?</a:t>
            </a:r>
          </a:p>
        </p:txBody>
      </p:sp>
      <p:sp>
        <p:nvSpPr>
          <p:cNvPr id="120" name="Right Arrow 119"/>
          <p:cNvSpPr/>
          <p:nvPr/>
        </p:nvSpPr>
        <p:spPr>
          <a:xfrm>
            <a:off x="2796235" y="317296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4412894" y="294436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If corrected</a:t>
            </a:r>
          </a:p>
          <a:p>
            <a:pPr algn="l"/>
            <a:r>
              <a:rPr sz="850" b="0">
                <a:solidFill>
                  <a:srgbClr val="1E8E3E"/>
                </a:solidFill>
                <a:latin typeface="Google Sans Flex"/>
              </a:rPr>
              <a:t>box clears: "Cleared in N s"</a:t>
            </a:r>
          </a:p>
        </p:txBody>
      </p:sp>
      <p:sp>
        <p:nvSpPr>
          <p:cNvPr id="122" name="Right Arrow 121"/>
          <p:cNvSpPr/>
          <p:nvPr/>
        </p:nvSpPr>
        <p:spPr>
          <a:xfrm>
            <a:off x="4294022" y="317296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Rounded Rectangle 122"/>
          <p:cNvSpPr/>
          <p:nvPr/>
        </p:nvSpPr>
        <p:spPr>
          <a:xfrm>
            <a:off x="5910681" y="294436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If not</a:t>
            </a:r>
          </a:p>
          <a:p>
            <a:pPr algn="l"/>
            <a:r>
              <a:rPr sz="850" b="0">
                <a:solidFill>
                  <a:srgbClr val="D93025"/>
                </a:solidFill>
                <a:latin typeface="Google Sans Flex"/>
              </a:rPr>
              <a:t>box stays; operator can cue or post a notice</a:t>
            </a:r>
          </a:p>
        </p:txBody>
      </p:sp>
      <p:sp>
        <p:nvSpPr>
          <p:cNvPr id="124" name="Right Arrow 123"/>
          <p:cNvSpPr/>
          <p:nvPr/>
        </p:nvSpPr>
        <p:spPr>
          <a:xfrm>
            <a:off x="5791809" y="317296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Rounded Rectangle 124"/>
          <p:cNvSpPr/>
          <p:nvPr/>
        </p:nvSpPr>
        <p:spPr>
          <a:xfrm>
            <a:off x="7408468" y="2944368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Alert log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every verdict kept</a:t>
            </a:r>
          </a:p>
        </p:txBody>
      </p:sp>
      <p:sp>
        <p:nvSpPr>
          <p:cNvPr id="126" name="Right Arrow 125"/>
          <p:cNvSpPr/>
          <p:nvPr/>
        </p:nvSpPr>
        <p:spPr>
          <a:xfrm>
            <a:off x="7289596" y="3172968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365760" y="3675887"/>
            <a:ext cx="10058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E8E3E"/>
                </a:solidFill>
                <a:latin typeface="Google Sans Flex"/>
              </a:rPr>
              <a:t>Viewer chat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1417320" y="3675887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Comment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viewer page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2915107" y="3675887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Screen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code filter + Model Armor</a:t>
            </a:r>
          </a:p>
        </p:txBody>
      </p:sp>
      <p:sp>
        <p:nvSpPr>
          <p:cNvPr id="130" name="Right Arrow 129"/>
          <p:cNvSpPr/>
          <p:nvPr/>
        </p:nvSpPr>
        <p:spPr>
          <a:xfrm>
            <a:off x="2796235" y="3904487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ounded Rectangle 130"/>
          <p:cNvSpPr/>
          <p:nvPr/>
        </p:nvSpPr>
        <p:spPr>
          <a:xfrm>
            <a:off x="4412894" y="3675887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Triage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Gemini 3.8 Flash</a:t>
            </a:r>
          </a:p>
        </p:txBody>
      </p:sp>
      <p:sp>
        <p:nvSpPr>
          <p:cNvPr id="132" name="Right Arrow 131"/>
          <p:cNvSpPr/>
          <p:nvPr/>
        </p:nvSpPr>
        <p:spPr>
          <a:xfrm>
            <a:off x="4294022" y="3904487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5910681" y="3675887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Answer from records</a:t>
            </a:r>
          </a:p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Vertex AI Search, then checked</a:t>
            </a:r>
          </a:p>
        </p:txBody>
      </p:sp>
      <p:sp>
        <p:nvSpPr>
          <p:cNvPr id="134" name="Right Arrow 133"/>
          <p:cNvSpPr/>
          <p:nvPr/>
        </p:nvSpPr>
        <p:spPr>
          <a:xfrm>
            <a:off x="5791809" y="3904487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Rounded Rectangle 134"/>
          <p:cNvSpPr/>
          <p:nvPr/>
        </p:nvSpPr>
        <p:spPr>
          <a:xfrm>
            <a:off x="7408468" y="3675887"/>
            <a:ext cx="1369771" cy="566928"/>
          </a:xfrm>
          <a:prstGeom prst="roundRect">
            <a:avLst>
              <a:gd name="adj" fmla="val 1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Post or wait</a:t>
            </a:r>
          </a:p>
          <a:p>
            <a:pPr algn="l"/>
            <a:r>
              <a:rPr sz="850" b="0">
                <a:solidFill>
                  <a:srgbClr val="1E8E3E"/>
                </a:solidFill>
                <a:latin typeface="Google Sans Flex"/>
              </a:rPr>
              <a:t>AI answer, or host / operator</a:t>
            </a:r>
          </a:p>
        </p:txBody>
      </p:sp>
      <p:sp>
        <p:nvSpPr>
          <p:cNvPr id="136" name="Right Arrow 135"/>
          <p:cNvSpPr/>
          <p:nvPr/>
        </p:nvSpPr>
        <p:spPr>
          <a:xfrm>
            <a:off x="7289596" y="3904487"/>
            <a:ext cx="109728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365760" y="4389120"/>
            <a:ext cx="84124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Legend  </a:t>
            </a:r>
            <a:r>
              <a:rPr sz="850" b="0">
                <a:solidFill>
                  <a:srgbClr val="1A73E8"/>
                </a:solidFill>
                <a:latin typeface="Google Sans Flex"/>
              </a:rPr>
              <a:t>blue = Gemini</a:t>
            </a:r>
            <a:r>
              <a:rPr sz="850" b="0">
                <a:solidFill>
                  <a:srgbClr val="1E8E3E"/>
                </a:solidFill>
                <a:latin typeface="Google Sans Flex"/>
              </a:rPr>
              <a:t>   green = a person or the result they see</a:t>
            </a:r>
            <a:r>
              <a:rPr sz="850" b="0">
                <a:solidFill>
                  <a:srgbClr val="D93025"/>
                </a:solidFill>
                <a:latin typeface="Google Sans Flex"/>
              </a:rPr>
              <a:t>   red = what the host must fix</a:t>
            </a:r>
          </a:p>
          <a:p>
            <a:pPr algn="l">
              <a:spcBef>
                <a:spcPts val="300"/>
              </a:spcBef>
            </a:pPr>
            <a:r>
              <a:rPr sz="850" b="0">
                <a:solidFill>
                  <a:srgbClr val="5F6368"/>
                </a:solidFill>
                <a:latin typeface="Google Sans Flex"/>
              </a:rPr>
              <a:t>The judges read only what was approved: the regulation files for red, what the prompter shows for orange. Nothing is typed in by hand during the show.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19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1" name="Google Shape;101;p19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02" name="Google Shape;102;p19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3" name="Google Shape;103;p19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Wireframes/Mock diagrams of the proposed solution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04" name="TextBox 103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Alerts, the line to say and the talking points on one screen</a:t>
            </a:r>
          </a:p>
        </p:txBody>
      </p:sp>
      <p:sp>
        <p:nvSpPr>
          <p:cNvPr id="105" name="Rounded Rectangle 104"/>
          <p:cNvSpPr/>
          <p:nvPr/>
        </p:nvSpPr>
        <p:spPr>
          <a:xfrm>
            <a:off x="365760" y="1481328"/>
            <a:ext cx="5486400" cy="3401568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6" name="TextBox 105"/>
          <p:cNvSpPr txBox="1"/>
          <p:nvPr/>
        </p:nvSpPr>
        <p:spPr>
          <a:xfrm>
            <a:off x="694944" y="1554480"/>
            <a:ext cx="12801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D93025"/>
                </a:solidFill>
                <a:latin typeface="Google Sans Flex"/>
              </a:rPr>
              <a:t>● LIVE 00:12:31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965960" y="1536192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NOW </a:t>
            </a:r>
            <a:r>
              <a:rPr sz="850" b="1">
                <a:solidFill>
                  <a:srgbClr val="202124"/>
                </a:solidFill>
                <a:latin typeface="Google Sans Flex"/>
              </a:rPr>
              <a:t>Hydra Barrier Cream</a:t>
            </a:r>
          </a:p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NEXT </a:t>
            </a:r>
            <a:r>
              <a:rPr sz="850" b="0">
                <a:solidFill>
                  <a:srgbClr val="5F6368"/>
                </a:solidFill>
                <a:latin typeface="Google Sans Flex"/>
              </a:rPr>
              <a:t>Deep Hydration Ampoule</a:t>
            </a:r>
          </a:p>
        </p:txBody>
      </p:sp>
      <p:cxnSp>
        <p:nvCxnSpPr>
          <p:cNvPr id="108" name="Connector 107"/>
          <p:cNvCxnSpPr/>
          <p:nvPr/>
        </p:nvCxnSpPr>
        <p:spPr>
          <a:xfrm>
            <a:off x="365760" y="1883664"/>
            <a:ext cx="54864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9" name="Rounded Rectangle 108"/>
          <p:cNvSpPr/>
          <p:nvPr/>
        </p:nvSpPr>
        <p:spPr>
          <a:xfrm>
            <a:off x="475488" y="1984248"/>
            <a:ext cx="3566160" cy="658368"/>
          </a:xfrm>
          <a:prstGeom prst="roundRect">
            <a:avLst>
              <a:gd name="adj" fmla="val 6000"/>
            </a:avLst>
          </a:prstGeom>
          <a:solidFill>
            <a:srgbClr val="FCE8E6"/>
          </a:solidFill>
          <a:ln w="9525">
            <a:solidFill>
              <a:srgbClr val="D9302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54864" bIns="54864" wrap="square"/>
          <a:lstStyle/>
          <a:p>
            <a:pPr algn="l"/>
            <a:r>
              <a:rPr sz="850" b="1">
                <a:solidFill>
                  <a:srgbClr val="D93025"/>
                </a:solidFill>
                <a:latin typeface="Google Sans Flex"/>
              </a:rPr>
              <a:t>Regulation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 Heard: "treats eczema"</a:t>
            </a:r>
          </a:p>
          <a:p>
            <a:pPr algn="l"/>
            <a:r>
              <a:rPr sz="750" b="0">
                <a:solidFill>
                  <a:srgbClr val="D93025"/>
                </a:solidFill>
                <a:latin typeface="Google Sans Flex"/>
              </a:rPr>
              <a:t>Take it back, then say:</a:t>
            </a:r>
          </a:p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"Sorry, I take that back. Helps relieve the feeling of dryness."</a:t>
            </a:r>
          </a:p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ASEAN guideline App. III 2.d · Shown in 1.3 s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475488" y="2715768"/>
            <a:ext cx="3566160" cy="420624"/>
          </a:xfrm>
          <a:prstGeom prst="roundRect">
            <a:avLst>
              <a:gd name="adj" fmla="val 6000"/>
            </a:avLst>
          </a:prstGeom>
          <a:solidFill>
            <a:srgbClr val="FEF7E0"/>
          </a:solidFill>
          <a:ln w="9525">
            <a:solidFill>
              <a:srgbClr val="B06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tIns="54864" bIns="54864" wrap="square"/>
          <a:lstStyle/>
          <a:p>
            <a:pPr algn="l"/>
            <a:r>
              <a:rPr sz="850" b="1">
                <a:solidFill>
                  <a:srgbClr val="B06000"/>
                </a:solidFill>
                <a:latin typeface="Google Sans Flex"/>
              </a:rPr>
              <a:t>Product info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 Heard: S$32</a:t>
            </a:r>
          </a:p>
          <a:p>
            <a:pPr algn="l"/>
            <a:r>
              <a:rPr sz="850" b="1">
                <a:solidFill>
                  <a:srgbClr val="202124"/>
                </a:solidFill>
                <a:latin typeface="Google Sans Flex"/>
              </a:rPr>
              <a:t>The live price is S$36.00.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475488" y="3218688"/>
            <a:ext cx="1005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LIVE PRICE</a:t>
            </a:r>
          </a:p>
          <a:p>
            <a:pPr algn="l"/>
            <a:r>
              <a:rPr sz="1400" b="1">
                <a:solidFill>
                  <a:srgbClr val="202124"/>
                </a:solidFill>
                <a:latin typeface="Google Sans Flex"/>
              </a:rPr>
              <a:t>S$36.00</a:t>
            </a:r>
          </a:p>
        </p:txBody>
      </p:sp>
      <p:sp>
        <p:nvSpPr>
          <p:cNvPr id="112" name="TextBox 111"/>
          <p:cNvSpPr txBox="1"/>
          <p:nvPr/>
        </p:nvSpPr>
        <p:spPr>
          <a:xfrm>
            <a:off x="1572768" y="3218688"/>
            <a:ext cx="24688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1">
                <a:solidFill>
                  <a:srgbClr val="1E8E3E"/>
                </a:solidFill>
                <a:latin typeface="Google Sans Flex"/>
              </a:rPr>
              <a:t>✓ </a:t>
            </a:r>
            <a:r>
              <a:rPr sz="750" b="0">
                <a:solidFill>
                  <a:srgbClr val="202124"/>
                </a:solidFill>
                <a:latin typeface="Google Sans Flex"/>
              </a:rPr>
              <a:t>Hydrated for up to 24 hours in our in-house test</a:t>
            </a:r>
          </a:p>
          <a:p>
            <a:pPr algn="l">
              <a:spcBef>
                <a:spcPts val="200"/>
              </a:spcBef>
            </a:pPr>
            <a:r>
              <a:rPr sz="750" b="1">
                <a:solidFill>
                  <a:srgbClr val="1E8E3E"/>
                </a:solidFill>
                <a:latin typeface="Google Sans Flex"/>
              </a:rPr>
              <a:t>★ </a:t>
            </a:r>
            <a:r>
              <a:rPr sz="750" b="1">
                <a:solidFill>
                  <a:srgbClr val="202124"/>
                </a:solidFill>
                <a:latin typeface="Google Sans Flex"/>
              </a:rPr>
              <a:t>Suitable for sensitive skin, patch tested</a:t>
            </a:r>
          </a:p>
          <a:p>
            <a:pPr algn="l">
              <a:spcBef>
                <a:spcPts val="200"/>
              </a:spcBef>
            </a:pPr>
            <a:r>
              <a:rPr sz="750" b="0">
                <a:solidFill>
                  <a:srgbClr val="5F6368"/>
                </a:solidFill>
                <a:latin typeface="Google Sans Flex"/>
              </a:rPr>
              <a:t>•  </a:t>
            </a:r>
            <a:r>
              <a:rPr sz="750" b="0">
                <a:solidFill>
                  <a:srgbClr val="202124"/>
                </a:solidFill>
                <a:latin typeface="Google Sans Flex"/>
              </a:rPr>
              <a:t>Helps support the skin's moisture barrier</a:t>
            </a:r>
          </a:p>
        </p:txBody>
      </p:sp>
      <p:cxnSp>
        <p:nvCxnSpPr>
          <p:cNvPr id="113" name="Connector 112"/>
          <p:cNvCxnSpPr/>
          <p:nvPr/>
        </p:nvCxnSpPr>
        <p:spPr>
          <a:xfrm>
            <a:off x="475488" y="4023360"/>
            <a:ext cx="356616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4" name="TextBox 113"/>
          <p:cNvSpPr txBox="1"/>
          <p:nvPr/>
        </p:nvSpPr>
        <p:spPr>
          <a:xfrm>
            <a:off x="475488" y="4078224"/>
            <a:ext cx="356616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QUESTIONS</a:t>
            </a:r>
          </a:p>
          <a:p>
            <a:pPr algn="l">
              <a:spcBef>
                <a:spcPts val="200"/>
              </a:spcBef>
            </a:pPr>
            <a:r>
              <a:rPr sz="750" b="1">
                <a:solidFill>
                  <a:srgbClr val="202124"/>
                </a:solidFill>
                <a:latin typeface="Google Sans Flex"/>
              </a:rPr>
              <a:t>01 Is it suitable for sensitive skin that gets redness easily?</a:t>
            </a:r>
          </a:p>
          <a:p>
            <a:pPr algn="l">
              <a:spcBef>
                <a:spcPts val="200"/>
              </a:spcBef>
            </a:pPr>
            <a:r>
              <a:rPr sz="750" b="0">
                <a:solidFill>
                  <a:srgbClr val="202124"/>
                </a:solidFill>
                <a:latin typeface="Google Sans Flex"/>
              </a:rPr>
              <a:t>It is suitable for sensitive skin. If redness appears, stop and consult a dermatologist.</a:t>
            </a:r>
          </a:p>
        </p:txBody>
      </p:sp>
      <p:sp>
        <p:nvSpPr>
          <p:cNvPr id="115" name="Rounded Rectangle 114"/>
          <p:cNvSpPr/>
          <p:nvPr/>
        </p:nvSpPr>
        <p:spPr>
          <a:xfrm>
            <a:off x="4160520" y="1984248"/>
            <a:ext cx="1581912" cy="2788920"/>
          </a:xfrm>
          <a:prstGeom prst="roundRect">
            <a:avLst>
              <a:gd name="adj" fmla="val 4000"/>
            </a:avLst>
          </a:prstGeom>
          <a:solidFill>
            <a:srgbClr val="F1F3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4251960" y="2048256"/>
            <a:ext cx="1463040" cy="2651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LIVE CHAT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202124"/>
                </a:solidFill>
                <a:latin typeface="Google Sans Flex"/>
              </a:rPr>
              <a:t>Mei </a:t>
            </a:r>
            <a:r>
              <a:rPr sz="700" b="0">
                <a:solidFill>
                  <a:srgbClr val="202124"/>
                </a:solidFill>
                <a:latin typeface="Google Sans Flex"/>
              </a:rPr>
              <a:t>I get redness easily...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202124"/>
                </a:solidFill>
                <a:latin typeface="Google Sans Flex"/>
              </a:rPr>
              <a:t>Arjun </a:t>
            </a:r>
            <a:r>
              <a:rPr sz="700" b="0">
                <a:solidFill>
                  <a:srgbClr val="202124"/>
                </a:solidFill>
                <a:latin typeface="Google Sans Flex"/>
              </a:rPr>
              <a:t>how much is it today?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1A73E8"/>
                </a:solidFill>
                <a:latin typeface="Google Sans Flex"/>
              </a:rPr>
              <a:t>AI answer </a:t>
            </a:r>
            <a:r>
              <a:rPr sz="700" b="0">
                <a:solidFill>
                  <a:srgbClr val="5F6368"/>
                </a:solidFill>
                <a:latin typeface="Google Sans Flex"/>
              </a:rPr>
              <a:t>The live price is S$36.00...</a:t>
            </a:r>
          </a:p>
          <a:p>
            <a:pPr algn="l">
              <a:spcBef>
                <a:spcPts val="400"/>
              </a:spcBef>
            </a:pPr>
            <a:r>
              <a:rPr sz="700" b="1">
                <a:solidFill>
                  <a:srgbClr val="202124"/>
                </a:solidFill>
                <a:latin typeface="Google Sans Flex"/>
              </a:rPr>
              <a:t>Siti </a:t>
            </a:r>
            <a:r>
              <a:rPr sz="700" b="0">
                <a:solidFill>
                  <a:srgbClr val="202124"/>
                </a:solidFill>
                <a:latin typeface="Google Sans Flex"/>
              </a:rPr>
              <a:t>does it have fragrance?</a:t>
            </a:r>
          </a:p>
        </p:txBody>
      </p:sp>
      <p:sp>
        <p:nvSpPr>
          <p:cNvPr id="117" name="Oval 116"/>
          <p:cNvSpPr/>
          <p:nvPr/>
        </p:nvSpPr>
        <p:spPr>
          <a:xfrm>
            <a:off x="6053328" y="161848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1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6400800" y="159105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02124"/>
                </a:solidFill>
                <a:latin typeface="Google Sans Flex"/>
              </a:rPr>
              <a:t>Show clock and the product on air, with the next one</a:t>
            </a:r>
          </a:p>
        </p:txBody>
      </p:sp>
      <p:sp>
        <p:nvSpPr>
          <p:cNvPr id="119" name="Oval 118"/>
          <p:cNvSpPr/>
          <p:nvPr/>
        </p:nvSpPr>
        <p:spPr>
          <a:xfrm>
            <a:off x="6053328" y="225856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2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6400800" y="223113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02124"/>
                </a:solidFill>
                <a:latin typeface="Google Sans Flex"/>
              </a:rPr>
              <a:t>Red: the regulation clause and one full sentence to read</a:t>
            </a:r>
          </a:p>
        </p:txBody>
      </p:sp>
      <p:sp>
        <p:nvSpPr>
          <p:cNvPr id="121" name="Oval 120"/>
          <p:cNvSpPr/>
          <p:nvPr/>
        </p:nvSpPr>
        <p:spPr>
          <a:xfrm>
            <a:off x="6053328" y="2871216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3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6400800" y="2843784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02124"/>
                </a:solidFill>
                <a:latin typeface="Google Sans Flex"/>
              </a:rPr>
              <a:t>Orange: the right value from the prompter</a:t>
            </a:r>
          </a:p>
        </p:txBody>
      </p:sp>
      <p:sp>
        <p:nvSpPr>
          <p:cNvPr id="123" name="Oval 122"/>
          <p:cNvSpPr/>
          <p:nvPr/>
        </p:nvSpPr>
        <p:spPr>
          <a:xfrm>
            <a:off x="6053328" y="349300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4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6400800" y="346557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02124"/>
                </a:solidFill>
                <a:latin typeface="Google Sans Flex"/>
              </a:rPr>
              <a:t>Prompter: ticks fill in as points are said</a:t>
            </a:r>
          </a:p>
        </p:txBody>
      </p:sp>
      <p:sp>
        <p:nvSpPr>
          <p:cNvPr id="125" name="Oval 124"/>
          <p:cNvSpPr/>
          <p:nvPr/>
        </p:nvSpPr>
        <p:spPr>
          <a:xfrm>
            <a:off x="6053328" y="4315968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5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400800" y="4288536"/>
            <a:ext cx="2377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>
                <a:solidFill>
                  <a:srgbClr val="202124"/>
                </a:solidFill>
                <a:latin typeface="Google Sans Flex"/>
              </a:rPr>
              <a:t>Viewer questions that need a person, with a reply</a:t>
            </a:r>
          </a:p>
        </p:txBody>
      </p:sp>
      <p:sp>
        <p:nvSpPr>
          <p:cNvPr id="127" name="Oval 126"/>
          <p:cNvSpPr/>
          <p:nvPr/>
        </p:nvSpPr>
        <p:spPr>
          <a:xfrm>
            <a:off x="420624" y="1517904"/>
            <a:ext cx="201168" cy="20116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1</a:t>
            </a:r>
          </a:p>
        </p:txBody>
      </p:sp>
      <p:sp>
        <p:nvSpPr>
          <p:cNvPr id="128" name="Oval 127"/>
          <p:cNvSpPr/>
          <p:nvPr/>
        </p:nvSpPr>
        <p:spPr>
          <a:xfrm>
            <a:off x="3858768" y="1938528"/>
            <a:ext cx="201168" cy="20116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2</a:t>
            </a:r>
          </a:p>
        </p:txBody>
      </p:sp>
      <p:sp>
        <p:nvSpPr>
          <p:cNvPr id="129" name="Oval 128"/>
          <p:cNvSpPr/>
          <p:nvPr/>
        </p:nvSpPr>
        <p:spPr>
          <a:xfrm>
            <a:off x="3858768" y="2670048"/>
            <a:ext cx="201168" cy="20116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3</a:t>
            </a:r>
          </a:p>
        </p:txBody>
      </p:sp>
      <p:sp>
        <p:nvSpPr>
          <p:cNvPr id="130" name="Oval 129"/>
          <p:cNvSpPr/>
          <p:nvPr/>
        </p:nvSpPr>
        <p:spPr>
          <a:xfrm>
            <a:off x="3858768" y="3218688"/>
            <a:ext cx="201168" cy="20116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4</a:t>
            </a:r>
          </a:p>
        </p:txBody>
      </p:sp>
      <p:sp>
        <p:nvSpPr>
          <p:cNvPr id="131" name="Oval 130"/>
          <p:cNvSpPr/>
          <p:nvPr/>
        </p:nvSpPr>
        <p:spPr>
          <a:xfrm>
            <a:off x="3858768" y="4078224"/>
            <a:ext cx="201168" cy="201168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5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6053328" y="4681728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Layout schematic. The host never clicks; real screens on slide 10.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8" name="Google Shape;108;p20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20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0" name="Google Shape;110;p20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20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Architecture diagram of the proposed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12" name="TextBox 111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One Cloud Run service runs each show and calls managed Google Cloud AI</a:t>
            </a:r>
          </a:p>
        </p:txBody>
      </p:sp>
      <p:sp>
        <p:nvSpPr>
          <p:cNvPr id="113" name="TextBox 112"/>
          <p:cNvSpPr txBox="1"/>
          <p:nvPr/>
        </p:nvSpPr>
        <p:spPr>
          <a:xfrm>
            <a:off x="365760" y="1417320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F6368"/>
                </a:solidFill>
                <a:latin typeface="Google Sans Flex"/>
              </a:rPr>
              <a:t>Inputs and screens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2697480" y="1417320"/>
            <a:ext cx="3291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Cloud Run service (FastAPI)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6263640" y="1417320"/>
            <a:ext cx="2514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5F6368"/>
                </a:solidFill>
                <a:latin typeface="Google Sans Flex"/>
              </a:rPr>
              <a:t>Google Cloud managed services</a:t>
            </a:r>
          </a:p>
        </p:txBody>
      </p:sp>
      <p:sp>
        <p:nvSpPr>
          <p:cNvPr id="116" name="Rounded Rectangle 115"/>
          <p:cNvSpPr/>
          <p:nvPr/>
        </p:nvSpPr>
        <p:spPr>
          <a:xfrm>
            <a:off x="365760" y="1691640"/>
            <a:ext cx="20116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Host mic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audio over WebSocket</a:t>
            </a:r>
          </a:p>
        </p:txBody>
      </p:sp>
      <p:sp>
        <p:nvSpPr>
          <p:cNvPr id="117" name="Right Arrow 116"/>
          <p:cNvSpPr/>
          <p:nvPr/>
        </p:nvSpPr>
        <p:spPr>
          <a:xfrm>
            <a:off x="2423160" y="1920240"/>
            <a:ext cx="228600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8" name="Rounded Rectangle 117"/>
          <p:cNvSpPr/>
          <p:nvPr/>
        </p:nvSpPr>
        <p:spPr>
          <a:xfrm>
            <a:off x="365760" y="2441448"/>
            <a:ext cx="20116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Viewer chat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comments</a:t>
            </a:r>
          </a:p>
        </p:txBody>
      </p:sp>
      <p:sp>
        <p:nvSpPr>
          <p:cNvPr id="119" name="Right Arrow 118"/>
          <p:cNvSpPr/>
          <p:nvPr/>
        </p:nvSpPr>
        <p:spPr>
          <a:xfrm>
            <a:off x="2423160" y="2670048"/>
            <a:ext cx="228600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0" name="Rounded Rectangle 119"/>
          <p:cNvSpPr/>
          <p:nvPr/>
        </p:nvSpPr>
        <p:spPr>
          <a:xfrm>
            <a:off x="365760" y="3191256"/>
            <a:ext cx="20116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Product + regulation PDFs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uploaded before air</a:t>
            </a:r>
          </a:p>
        </p:txBody>
      </p:sp>
      <p:sp>
        <p:nvSpPr>
          <p:cNvPr id="121" name="Right Arrow 120"/>
          <p:cNvSpPr/>
          <p:nvPr/>
        </p:nvSpPr>
        <p:spPr>
          <a:xfrm>
            <a:off x="2423160" y="3419856"/>
            <a:ext cx="228600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Rounded Rectangle 121"/>
          <p:cNvSpPr/>
          <p:nvPr/>
        </p:nvSpPr>
        <p:spPr>
          <a:xfrm>
            <a:off x="365760" y="3941064"/>
            <a:ext cx="2011680" cy="56692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09728" rIns="109728" tIns="54864" bIns="54864" wrap="square"/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Screens</a:t>
            </a:r>
          </a:p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host, operator, viewer, summary (SSE)</a:t>
            </a:r>
          </a:p>
        </p:txBody>
      </p:sp>
      <p:sp>
        <p:nvSpPr>
          <p:cNvPr id="123" name="Left Arrow 122"/>
          <p:cNvSpPr/>
          <p:nvPr/>
        </p:nvSpPr>
        <p:spPr>
          <a:xfrm>
            <a:off x="2423160" y="4169664"/>
            <a:ext cx="228600" cy="109728"/>
          </a:xfrm>
          <a:prstGeom prst="lef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Rounded Rectangle 123"/>
          <p:cNvSpPr/>
          <p:nvPr/>
        </p:nvSpPr>
        <p:spPr>
          <a:xfrm>
            <a:off x="2697480" y="1691640"/>
            <a:ext cx="3291840" cy="298094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2834640" y="176479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STT stream per show · a split sentence is merged · timers</a:t>
            </a:r>
          </a:p>
        </p:txBody>
      </p:sp>
      <p:sp>
        <p:nvSpPr>
          <p:cNvPr id="126" name="Rounded Rectangle 125"/>
          <p:cNvSpPr/>
          <p:nvPr/>
        </p:nvSpPr>
        <p:spPr>
          <a:xfrm>
            <a:off x="2834640" y="2103120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950" b="1">
                <a:solidFill>
                  <a:srgbClr val="D93025"/>
                </a:solidFill>
                <a:latin typeface="Google Sans Flex"/>
              </a:rPr>
              <a:t>Compliance</a:t>
            </a:r>
          </a:p>
          <a:p>
            <a:pPr algn="l"/>
            <a:r>
              <a:rPr sz="750" b="0">
                <a:solidFill>
                  <a:srgbClr val="202124"/>
                </a:solidFill>
                <a:latin typeface="Google Sans Flex"/>
              </a:rPr>
              <a:t>Flash-Lite · regulation PDFs as files</a:t>
            </a:r>
          </a:p>
        </p:txBody>
      </p:sp>
      <p:sp>
        <p:nvSpPr>
          <p:cNvPr id="127" name="Rounded Rectangle 126"/>
          <p:cNvSpPr/>
          <p:nvPr/>
        </p:nvSpPr>
        <p:spPr>
          <a:xfrm>
            <a:off x="4361688" y="2103120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950" b="1">
                <a:solidFill>
                  <a:srgbClr val="B06000"/>
                </a:solidFill>
                <a:latin typeface="Google Sans Flex"/>
              </a:rPr>
              <a:t>Fact checker</a:t>
            </a:r>
          </a:p>
          <a:p>
            <a:pPr algn="l"/>
            <a:r>
              <a:rPr sz="750" b="0">
                <a:solidFill>
                  <a:srgbClr val="202124"/>
                </a:solidFill>
                <a:latin typeface="Google Sans Flex"/>
              </a:rPr>
              <a:t>3.8 Flash · what the prompter shows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2834640" y="2761487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E8F0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950" b="1">
                <a:solidFill>
                  <a:srgbClr val="1A73E8"/>
                </a:solidFill>
                <a:latin typeface="Google Sans Flex"/>
              </a:rPr>
              <a:t>Context</a:t>
            </a:r>
          </a:p>
          <a:p>
            <a:pPr algn="l"/>
            <a:r>
              <a:rPr sz="750" b="0">
                <a:solidFill>
                  <a:srgbClr val="202124"/>
                </a:solidFill>
                <a:latin typeface="Google Sans Flex"/>
              </a:rPr>
              <a:t>Flash-Lite · switch, question hold</a:t>
            </a:r>
          </a:p>
        </p:txBody>
      </p:sp>
      <p:sp>
        <p:nvSpPr>
          <p:cNvPr id="129" name="Rounded Rectangle 128"/>
          <p:cNvSpPr/>
          <p:nvPr/>
        </p:nvSpPr>
        <p:spPr>
          <a:xfrm>
            <a:off x="4361688" y="2761487"/>
            <a:ext cx="1463040" cy="566928"/>
          </a:xfrm>
          <a:prstGeom prst="roundRect">
            <a:avLst>
              <a:gd name="adj" fmla="val 8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 rIns="73152" tIns="54864" bIns="54864" wrap="square"/>
          <a:lstStyle/>
          <a:p>
            <a:pPr algn="l"/>
            <a:r>
              <a:rPr sz="950" b="1">
                <a:solidFill>
                  <a:srgbClr val="1E8E3E"/>
                </a:solidFill>
                <a:latin typeface="Google Sans Flex"/>
              </a:rPr>
              <a:t>Prompter</a:t>
            </a:r>
          </a:p>
          <a:p>
            <a:pPr algn="l"/>
            <a:r>
              <a:rPr sz="750" b="0">
                <a:solidFill>
                  <a:srgbClr val="202124"/>
                </a:solidFill>
                <a:latin typeface="Google Sans Flex"/>
              </a:rPr>
              <a:t>3.8 Flash · full-meaning ticks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834640" y="3438144"/>
            <a:ext cx="30175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1A73E8"/>
                </a:solidFill>
                <a:latin typeface="Google Sans Flex"/>
              </a:rPr>
              <a:t>4 judges in parallel on every final line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2834640" y="3675887"/>
            <a:ext cx="3017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1A73E8"/>
                </a:solidFill>
                <a:latin typeface="Google Sans Flex"/>
              </a:rPr>
              <a:t>•  </a:t>
            </a:r>
            <a:r>
              <a:rPr sz="850" b="0">
                <a:solidFill>
                  <a:srgbClr val="202124"/>
                </a:solidFill>
                <a:latin typeface="Google Sans Flex"/>
              </a:rPr>
              <a:t>Comment path: screen, triage, answer, check</a:t>
            </a:r>
          </a:p>
          <a:p>
            <a:pPr algn="l">
              <a:spcBef>
                <a:spcPts val="300"/>
              </a:spcBef>
            </a:pPr>
            <a:r>
              <a:rPr sz="850" b="0">
                <a:solidFill>
                  <a:srgbClr val="1A73E8"/>
                </a:solidFill>
                <a:latin typeface="Google Sans Flex"/>
              </a:rPr>
              <a:t>•  </a:t>
            </a:r>
            <a:r>
              <a:rPr sz="850" b="0">
                <a:solidFill>
                  <a:srgbClr val="202124"/>
                </a:solidFill>
                <a:latin typeface="Google Sans Flex"/>
              </a:rPr>
              <a:t>Code maps ids, runs timers, draws screens; it never drops a verdict</a:t>
            </a:r>
          </a:p>
          <a:p>
            <a:pPr algn="l">
              <a:spcBef>
                <a:spcPts val="300"/>
              </a:spcBef>
            </a:pPr>
            <a:r>
              <a:rPr sz="850" b="0">
                <a:solidFill>
                  <a:srgbClr val="1A73E8"/>
                </a:solidFill>
                <a:latin typeface="Google Sans Flex"/>
              </a:rPr>
              <a:t>•  </a:t>
            </a:r>
            <a:r>
              <a:rPr sz="850" b="0">
                <a:solidFill>
                  <a:srgbClr val="202124"/>
                </a:solidFill>
                <a:latin typeface="Google Sans Flex"/>
              </a:rPr>
              <a:t>IAP login · one instance · session affinity</a:t>
            </a:r>
          </a:p>
        </p:txBody>
      </p:sp>
      <p:sp>
        <p:nvSpPr>
          <p:cNvPr id="132" name="Left-Right Arrow 131"/>
          <p:cNvSpPr/>
          <p:nvPr/>
        </p:nvSpPr>
        <p:spPr>
          <a:xfrm>
            <a:off x="6035040" y="3072384"/>
            <a:ext cx="201168" cy="146304"/>
          </a:xfrm>
          <a:prstGeom prst="left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Rounded Rectangle 132"/>
          <p:cNvSpPr/>
          <p:nvPr/>
        </p:nvSpPr>
        <p:spPr>
          <a:xfrm>
            <a:off x="6263640" y="1691640"/>
            <a:ext cx="251460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Speech-to-Text V2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chirp_3, region us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6263640" y="2199132"/>
            <a:ext cx="251460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Vertex AI Gemini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3.5 Flash-Lite · 3.8 Flash (global)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6263640" y="2706624"/>
            <a:ext cx="251460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Vertex AI Search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product sheets for viewer answers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6263640" y="3214116"/>
            <a:ext cx="251460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Model Armor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screens viewer comments</a:t>
            </a:r>
          </a:p>
        </p:txBody>
      </p:sp>
      <p:sp>
        <p:nvSpPr>
          <p:cNvPr id="137" name="Rounded Rectangle 136"/>
          <p:cNvSpPr/>
          <p:nvPr/>
        </p:nvSpPr>
        <p:spPr>
          <a:xfrm>
            <a:off x="6263640" y="3721608"/>
            <a:ext cx="251460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Firestore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show state, alerts, every AI call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6263640" y="4229100"/>
            <a:ext cx="2514600" cy="4389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square"/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Cloud Storage</a:t>
            </a:r>
            <a:r>
              <a:rPr sz="750" b="0">
                <a:solidFill>
                  <a:srgbClr val="5F6368"/>
                </a:solidFill>
                <a:latin typeface="Google Sans Flex"/>
              </a:rPr>
              <a:t>  products, regulations, releases (write-once)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65760" y="4754880"/>
            <a:ext cx="84124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5F6368"/>
                </a:solidFill>
                <a:latin typeface="Google Sans Flex"/>
              </a:rPr>
              <a:t>Each judge has one source of truth: regulation files for red, the prompter for orange. Show state and every AI call are stored in Firestore.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21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21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21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21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Technologies to be used in the solution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0" name="TextBox 119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Each Google Cloud service has one job in the show</a:t>
            </a:r>
          </a:p>
        </p:txBody>
      </p:sp>
      <p:sp>
        <p:nvSpPr>
          <p:cNvPr id="121" name="TextBox 120"/>
          <p:cNvSpPr txBox="1"/>
          <p:nvPr/>
        </p:nvSpPr>
        <p:spPr>
          <a:xfrm>
            <a:off x="365760" y="1463040"/>
            <a:ext cx="20574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Service</a:t>
            </a:r>
          </a:p>
        </p:txBody>
      </p:sp>
      <p:sp>
        <p:nvSpPr>
          <p:cNvPr id="122" name="TextBox 121"/>
          <p:cNvSpPr txBox="1"/>
          <p:nvPr/>
        </p:nvSpPr>
        <p:spPr>
          <a:xfrm>
            <a:off x="2423160" y="1463040"/>
            <a:ext cx="26060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Model or setting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5029200" y="1463040"/>
            <a:ext cx="3749039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Its job</a:t>
            </a:r>
          </a:p>
        </p:txBody>
      </p:sp>
      <p:cxnSp>
        <p:nvCxnSpPr>
          <p:cNvPr id="124" name="Connector 123"/>
          <p:cNvCxnSpPr/>
          <p:nvPr/>
        </p:nvCxnSpPr>
        <p:spPr>
          <a:xfrm>
            <a:off x="365760" y="1709928"/>
            <a:ext cx="8412480" cy="0"/>
          </a:xfrm>
          <a:prstGeom prst="line">
            <a:avLst/>
          </a:prstGeom>
          <a:ln w="1587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5" name="TextBox 124"/>
          <p:cNvSpPr txBox="1"/>
          <p:nvPr/>
        </p:nvSpPr>
        <p:spPr>
          <a:xfrm>
            <a:off x="365760" y="1764792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Speech-to-Text V2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2423160" y="1764792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chirp_3, region us, STANDARD endpointing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5029200" y="1764792"/>
            <a:ext cx="3657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Streams the host's speech; speech terms from the product record as hints</a:t>
            </a:r>
          </a:p>
        </p:txBody>
      </p:sp>
      <p:cxnSp>
        <p:nvCxnSpPr>
          <p:cNvPr id="128" name="Connector 127"/>
          <p:cNvCxnSpPr/>
          <p:nvPr/>
        </p:nvCxnSpPr>
        <p:spPr>
          <a:xfrm>
            <a:off x="365760" y="2075688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9" name="TextBox 128"/>
          <p:cNvSpPr txBox="1"/>
          <p:nvPr/>
        </p:nvSpPr>
        <p:spPr>
          <a:xfrm>
            <a:off x="365760" y="2112264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Vertex AI Gemini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423160" y="2112264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3.5 Flash-Lite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5029200" y="2112264"/>
            <a:ext cx="3657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Compliance judge and context judge (one call each per line)</a:t>
            </a:r>
          </a:p>
        </p:txBody>
      </p:sp>
      <p:cxnSp>
        <p:nvCxnSpPr>
          <p:cNvPr id="132" name="Connector 131"/>
          <p:cNvCxnSpPr/>
          <p:nvPr/>
        </p:nvCxnSpPr>
        <p:spPr>
          <a:xfrm>
            <a:off x="365760" y="2423160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3" name="TextBox 132"/>
          <p:cNvSpPr txBox="1"/>
          <p:nvPr/>
        </p:nvSpPr>
        <p:spPr>
          <a:xfrm>
            <a:off x="365760" y="2459736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Vertex AI Gemini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2423160" y="2459736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3.8 Flash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029200" y="2459736"/>
            <a:ext cx="3657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Fact checker and prompter judge; reading product PDFs; comment triage, answers, recap</a:t>
            </a:r>
          </a:p>
        </p:txBody>
      </p:sp>
      <p:cxnSp>
        <p:nvCxnSpPr>
          <p:cNvPr id="136" name="Connector 135"/>
          <p:cNvCxnSpPr/>
          <p:nvPr/>
        </p:nvCxnSpPr>
        <p:spPr>
          <a:xfrm>
            <a:off x="365760" y="2770632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7" name="TextBox 136"/>
          <p:cNvSpPr txBox="1"/>
          <p:nvPr/>
        </p:nvSpPr>
        <p:spPr>
          <a:xfrm>
            <a:off x="365760" y="2807208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Vertex AI Search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2423160" y="280720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product sheets, per market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5029200" y="2807208"/>
            <a:ext cx="3657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Finds the product-sheet passage behind a viewer answer</a:t>
            </a:r>
          </a:p>
        </p:txBody>
      </p:sp>
      <p:cxnSp>
        <p:nvCxnSpPr>
          <p:cNvPr id="140" name="Connector 139"/>
          <p:cNvCxnSpPr/>
          <p:nvPr/>
        </p:nvCxnSpPr>
        <p:spPr>
          <a:xfrm>
            <a:off x="365760" y="3118103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1" name="TextBox 140"/>
          <p:cNvSpPr txBox="1"/>
          <p:nvPr/>
        </p:nvSpPr>
        <p:spPr>
          <a:xfrm>
            <a:off x="365760" y="3154679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Model Armor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2423160" y="3154679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before any model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5029200" y="3154679"/>
            <a:ext cx="3657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Screens viewer comments for spam, abuse and prompt attacks</a:t>
            </a:r>
          </a:p>
        </p:txBody>
      </p:sp>
      <p:cxnSp>
        <p:nvCxnSpPr>
          <p:cNvPr id="144" name="Connector 143"/>
          <p:cNvCxnSpPr/>
          <p:nvPr/>
        </p:nvCxnSpPr>
        <p:spPr>
          <a:xfrm>
            <a:off x="365760" y="3465575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5" name="TextBox 144"/>
          <p:cNvSpPr txBox="1"/>
          <p:nvPr/>
        </p:nvSpPr>
        <p:spPr>
          <a:xfrm>
            <a:off x="365760" y="3502151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Cloud Run + IAP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2423160" y="3502151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us-central1, one instance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5029200" y="3502151"/>
            <a:ext cx="3657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FastAPI backend, React screens, server-sent events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365760" y="3813048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/>
          <p:cNvSpPr txBox="1"/>
          <p:nvPr/>
        </p:nvSpPr>
        <p:spPr>
          <a:xfrm>
            <a:off x="365760" y="3849624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Firestore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423160" y="3849624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Native mode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5029200" y="3849624"/>
            <a:ext cx="3657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Sessions, transcripts, alerts, segments and every AI call with its tokens</a:t>
            </a:r>
          </a:p>
        </p:txBody>
      </p:sp>
      <p:cxnSp>
        <p:nvCxnSpPr>
          <p:cNvPr id="152" name="Connector 151"/>
          <p:cNvCxnSpPr/>
          <p:nvPr/>
        </p:nvCxnSpPr>
        <p:spPr>
          <a:xfrm>
            <a:off x="365760" y="4160520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3" name="TextBox 152"/>
          <p:cNvSpPr txBox="1"/>
          <p:nvPr/>
        </p:nvSpPr>
        <p:spPr>
          <a:xfrm>
            <a:off x="365760" y="4197096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Cloud Storage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423160" y="4197096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write-once objects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029200" y="4197096"/>
            <a:ext cx="3657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Approved products, regulation files and releases</a:t>
            </a:r>
          </a:p>
        </p:txBody>
      </p:sp>
      <p:cxnSp>
        <p:nvCxnSpPr>
          <p:cNvPr id="156" name="Connector 155"/>
          <p:cNvCxnSpPr/>
          <p:nvPr/>
        </p:nvCxnSpPr>
        <p:spPr>
          <a:xfrm>
            <a:off x="365760" y="4507992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7" name="TextBox 156"/>
          <p:cNvSpPr txBox="1"/>
          <p:nvPr/>
        </p:nvSpPr>
        <p:spPr>
          <a:xfrm>
            <a:off x="365760" y="4544568"/>
            <a:ext cx="1965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202124"/>
                </a:solidFill>
                <a:latin typeface="Google Sans Flex"/>
              </a:rPr>
              <a:t>App stack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423160" y="454456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Python 3.12, FastAPI, React 18, TypeScript, Vite</a:t>
            </a:r>
          </a:p>
        </p:txBody>
      </p:sp>
      <p:sp>
        <p:nvSpPr>
          <p:cNvPr id="159" name="TextBox 158"/>
          <p:cNvSpPr txBox="1"/>
          <p:nvPr/>
        </p:nvSpPr>
        <p:spPr>
          <a:xfrm>
            <a:off x="5029200" y="4544568"/>
            <a:ext cx="365759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Agent Development Kit for the AI PD agent; pytest, Vitest, Playwright</a:t>
            </a:r>
          </a:p>
        </p:txBody>
      </p:sp>
      <p:cxnSp>
        <p:nvCxnSpPr>
          <p:cNvPr id="160" name="Connector 159"/>
          <p:cNvCxnSpPr/>
          <p:nvPr/>
        </p:nvCxnSpPr>
        <p:spPr>
          <a:xfrm>
            <a:off x="365760" y="4855464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3" name="Shape 1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4" name="Google Shape;124;p22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25" name="Google Shape;125;p22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22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22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Estimated implementation cost (optional)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28" name="TextBox 127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Judges + speech: about US$4.2 an hour at 600 lines an hour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365760" y="146304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Item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2194560" y="1463040"/>
            <a:ext cx="39319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Basis (measured)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6126480" y="1463040"/>
            <a:ext cx="12801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Per line</a:t>
            </a:r>
          </a:p>
        </p:txBody>
      </p:sp>
      <p:sp>
        <p:nvSpPr>
          <p:cNvPr id="132" name="TextBox 131"/>
          <p:cNvSpPr txBox="1"/>
          <p:nvPr/>
        </p:nvSpPr>
        <p:spPr>
          <a:xfrm>
            <a:off x="7406640" y="1463040"/>
            <a:ext cx="1371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5F6368"/>
                </a:solidFill>
                <a:latin typeface="Google Sans Flex"/>
              </a:rPr>
              <a:t>Per hour (600 lines)</a:t>
            </a:r>
          </a:p>
        </p:txBody>
      </p:sp>
      <p:cxnSp>
        <p:nvCxnSpPr>
          <p:cNvPr id="133" name="Connector 132"/>
          <p:cNvCxnSpPr/>
          <p:nvPr/>
        </p:nvCxnSpPr>
        <p:spPr>
          <a:xfrm>
            <a:off x="365760" y="1709928"/>
            <a:ext cx="8412480" cy="0"/>
          </a:xfrm>
          <a:prstGeom prst="line">
            <a:avLst/>
          </a:prstGeom>
          <a:ln w="1587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4" name="TextBox 133"/>
          <p:cNvSpPr txBox="1"/>
          <p:nvPr/>
        </p:nvSpPr>
        <p:spPr>
          <a:xfrm>
            <a:off x="365760" y="1764792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Compliance judge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2194560" y="1764792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Flash-Lite, ~16.8k tokens (regulation PDFs), cached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126480" y="1764792"/>
            <a:ext cx="11887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$0.0011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406640" y="1764792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$0.63</a:t>
            </a:r>
          </a:p>
        </p:txBody>
      </p:sp>
      <p:cxnSp>
        <p:nvCxnSpPr>
          <p:cNvPr id="138" name="Connector 137"/>
          <p:cNvCxnSpPr/>
          <p:nvPr/>
        </p:nvCxnSpPr>
        <p:spPr>
          <a:xfrm>
            <a:off x="365760" y="2057400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9" name="TextBox 138"/>
          <p:cNvSpPr txBox="1"/>
          <p:nvPr/>
        </p:nvSpPr>
        <p:spPr>
          <a:xfrm>
            <a:off x="365760" y="2093976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Context judge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2194560" y="2093976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Flash-Lite, ~4.0k tokens in</a:t>
            </a:r>
          </a:p>
        </p:txBody>
      </p:sp>
      <p:sp>
        <p:nvSpPr>
          <p:cNvPr id="141" name="TextBox 140"/>
          <p:cNvSpPr txBox="1"/>
          <p:nvPr/>
        </p:nvSpPr>
        <p:spPr>
          <a:xfrm>
            <a:off x="6126480" y="2093976"/>
            <a:ext cx="11887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$0.0016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7406640" y="2093976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$0.94</a:t>
            </a:r>
          </a:p>
        </p:txBody>
      </p:sp>
      <p:cxnSp>
        <p:nvCxnSpPr>
          <p:cNvPr id="143" name="Connector 142"/>
          <p:cNvCxnSpPr/>
          <p:nvPr/>
        </p:nvCxnSpPr>
        <p:spPr>
          <a:xfrm>
            <a:off x="365760" y="2386584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4" name="TextBox 143"/>
          <p:cNvSpPr txBox="1"/>
          <p:nvPr/>
        </p:nvSpPr>
        <p:spPr>
          <a:xfrm>
            <a:off x="365760" y="2423160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Prompter judge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2194560" y="2423160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3.8 Flash, ~1.2k tokens in, low thinking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126480" y="2423160"/>
            <a:ext cx="11887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$0.0012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7406640" y="2423160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$0.74</a:t>
            </a:r>
          </a:p>
        </p:txBody>
      </p:sp>
      <p:cxnSp>
        <p:nvCxnSpPr>
          <p:cNvPr id="148" name="Connector 147"/>
          <p:cNvCxnSpPr/>
          <p:nvPr/>
        </p:nvCxnSpPr>
        <p:spPr>
          <a:xfrm>
            <a:off x="365760" y="2715768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9" name="TextBox 148"/>
          <p:cNvSpPr txBox="1"/>
          <p:nvPr/>
        </p:nvSpPr>
        <p:spPr>
          <a:xfrm>
            <a:off x="365760" y="2752344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Fact checker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194560" y="2752344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3.8 Flash, ~5.3k tokens, part cached (est.)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6126480" y="2752344"/>
            <a:ext cx="11887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$0.0016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406640" y="2752344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$0.95</a:t>
            </a:r>
          </a:p>
        </p:txBody>
      </p:sp>
      <p:cxnSp>
        <p:nvCxnSpPr>
          <p:cNvPr id="153" name="Connector 152"/>
          <p:cNvCxnSpPr/>
          <p:nvPr/>
        </p:nvCxnSpPr>
        <p:spPr>
          <a:xfrm>
            <a:off x="365760" y="3044951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4" name="TextBox 153"/>
          <p:cNvSpPr txBox="1"/>
          <p:nvPr/>
        </p:nvSpPr>
        <p:spPr>
          <a:xfrm>
            <a:off x="365760" y="3081527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Speech-to-Text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2194560" y="3081527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chirp_3, $0.016 per audio minute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6126480" y="3081527"/>
            <a:ext cx="11887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/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7406640" y="3081527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$0.96</a:t>
            </a:r>
          </a:p>
        </p:txBody>
      </p:sp>
      <p:cxnSp>
        <p:nvCxnSpPr>
          <p:cNvPr id="158" name="Connector 157"/>
          <p:cNvCxnSpPr/>
          <p:nvPr/>
        </p:nvCxnSpPr>
        <p:spPr>
          <a:xfrm>
            <a:off x="365760" y="3374135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9" name="TextBox 158"/>
          <p:cNvSpPr txBox="1"/>
          <p:nvPr/>
        </p:nvSpPr>
        <p:spPr>
          <a:xfrm>
            <a:off x="365760" y="3410711"/>
            <a:ext cx="1737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Total</a:t>
            </a:r>
          </a:p>
        </p:txBody>
      </p:sp>
      <p:sp>
        <p:nvSpPr>
          <p:cNvPr id="160" name="TextBox 159"/>
          <p:cNvSpPr txBox="1"/>
          <p:nvPr/>
        </p:nvSpPr>
        <p:spPr>
          <a:xfrm>
            <a:off x="2194560" y="3410711"/>
            <a:ext cx="38404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judges per line; per hour adds speech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6126480" y="3410711"/>
            <a:ext cx="118871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$0.0054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7406640" y="3410711"/>
            <a:ext cx="1280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>
                <a:solidFill>
                  <a:srgbClr val="202124"/>
                </a:solidFill>
                <a:latin typeface="Google Sans Flex"/>
              </a:rPr>
              <a:t>≈ $4.2</a:t>
            </a:r>
          </a:p>
        </p:txBody>
      </p:sp>
      <p:cxnSp>
        <p:nvCxnSpPr>
          <p:cNvPr id="163" name="Connector 162"/>
          <p:cNvCxnSpPr/>
          <p:nvPr/>
        </p:nvCxnSpPr>
        <p:spPr>
          <a:xfrm>
            <a:off x="365760" y="3703320"/>
            <a:ext cx="841248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4" name="Rounded Rectangle 163"/>
          <p:cNvSpPr/>
          <p:nvPr/>
        </p:nvSpPr>
        <p:spPr>
          <a:xfrm>
            <a:off x="365760" y="3858768"/>
            <a:ext cx="4114800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/>
            <a:r>
              <a:rPr sz="850" b="1">
                <a:solidFill>
                  <a:srgbClr val="1A73E8"/>
                </a:solidFill>
                <a:latin typeface="Google Sans Flex"/>
              </a:rPr>
              <a:t>How it was measured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202124"/>
                </a:solidFill>
                <a:latin typeface="Google Sans Flex"/>
              </a:rPr>
              <a:t>Token counts of every judge call in 2 shows on the deployed app (10/11, 14 host lines) from Firestore, times Google's list prices. The fact checker moved to 3.8 Flash on 10/15; its row is estimated from the same tokens. Per hour assumes 10 final lines a minute (600 lines, an assumption, not measured).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663440" y="3858768"/>
            <a:ext cx="4114800" cy="914400"/>
          </a:xfrm>
          <a:prstGeom prst="roundRect">
            <a:avLst>
              <a:gd name="adj" fmla="val 6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lIns="109728" rIns="109728" tIns="54864" bIns="54864" wrap="square"/>
          <a:lstStyle/>
          <a:p>
            <a:pPr algn="l"/>
            <a:r>
              <a:rPr sz="850" b="1">
                <a:solidFill>
                  <a:srgbClr val="B06000"/>
                </a:solidFill>
                <a:latin typeface="Google Sans Flex"/>
              </a:rPr>
              <a:t>Not included</a:t>
            </a:r>
          </a:p>
          <a:p>
            <a:pPr algn="l">
              <a:spcBef>
                <a:spcPts val="200"/>
              </a:spcBef>
            </a:pPr>
            <a:r>
              <a:rPr sz="850" b="0">
                <a:solidFill>
                  <a:srgbClr val="202124"/>
                </a:solidFill>
                <a:latin typeface="Google Sans Flex"/>
              </a:rPr>
              <a:t>Repeat requests sent when a judge is slow (not logged; at most doubles that call). Viewer comments: ~$0.006 a comment for triage. The recap: $0.007 a show. Cloud Run and Firestore. 3.8 Flash list price doubles on 2027-01-01.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65760" y="4846320"/>
            <a:ext cx="84124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00" b="0">
                <a:solidFill>
                  <a:srgbClr val="5F6368"/>
                </a:solidFill>
                <a:latin typeface="Google Sans Flex"/>
              </a:rPr>
              <a:t>List prices on 10/11: Gemini API pricing page (ai.google.dev) and Speech-to-Text pricing (cloud.google.com).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2" name="Google Shape;132;p23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33" name="Google Shape;133;p23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23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23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Snapshots of the prototype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36" name="TextBox 135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One show on the deployed app, from alert to correction</a:t>
            </a:r>
          </a:p>
        </p:txBody>
      </p:sp>
      <p:pic>
        <p:nvPicPr>
          <p:cNvPr id="137" name="Picture 136" descr="alert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1444752"/>
            <a:ext cx="3566160" cy="1363923"/>
          </a:xfrm>
          <a:prstGeom prst="rect">
            <a:avLst/>
          </a:prstGeom>
        </p:spPr>
      </p:pic>
      <p:sp>
        <p:nvSpPr>
          <p:cNvPr id="138" name="Rectangle 137"/>
          <p:cNvSpPr/>
          <p:nvPr/>
        </p:nvSpPr>
        <p:spPr>
          <a:xfrm>
            <a:off x="685800" y="1444752"/>
            <a:ext cx="3566160" cy="1363923"/>
          </a:xfrm>
          <a:prstGeom prst="rect">
            <a:avLst/>
          </a:prstGeom>
          <a:noFill/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85800" y="2854395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1  Red and orange boxes on the host screen</a:t>
            </a:r>
          </a:p>
        </p:txBody>
      </p:sp>
      <p:pic>
        <p:nvPicPr>
          <p:cNvPr id="140" name="Picture 139" descr="clear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92040" y="1444752"/>
            <a:ext cx="3566160" cy="1363923"/>
          </a:xfrm>
          <a:prstGeom prst="rect">
            <a:avLst/>
          </a:prstGeom>
        </p:spPr>
      </p:pic>
      <p:sp>
        <p:nvSpPr>
          <p:cNvPr id="141" name="Rectangle 140"/>
          <p:cNvSpPr/>
          <p:nvPr/>
        </p:nvSpPr>
        <p:spPr>
          <a:xfrm>
            <a:off x="4892040" y="1444752"/>
            <a:ext cx="3566160" cy="1363923"/>
          </a:xfrm>
          <a:prstGeom prst="rect">
            <a:avLst/>
          </a:prstGeom>
          <a:noFill/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4892040" y="2854395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2  Both cleared in the host's words; points ticked</a:t>
            </a:r>
          </a:p>
        </p:txBody>
      </p:sp>
      <p:pic>
        <p:nvPicPr>
          <p:cNvPr id="143" name="Picture 142" descr="operator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5800" y="3156147"/>
            <a:ext cx="3566160" cy="1363923"/>
          </a:xfrm>
          <a:prstGeom prst="rect">
            <a:avLst/>
          </a:prstGeom>
        </p:spPr>
      </p:pic>
      <p:sp>
        <p:nvSpPr>
          <p:cNvPr id="144" name="Rectangle 143"/>
          <p:cNvSpPr/>
          <p:nvPr/>
        </p:nvSpPr>
        <p:spPr>
          <a:xfrm>
            <a:off x="685800" y="3156147"/>
            <a:ext cx="3566160" cy="1363923"/>
          </a:xfrm>
          <a:prstGeom prst="rect">
            <a:avLst/>
          </a:prstGeom>
          <a:noFill/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85800" y="456579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3  Operator: the clause, the AI summary, actions</a:t>
            </a:r>
          </a:p>
        </p:txBody>
      </p:sp>
      <p:pic>
        <p:nvPicPr>
          <p:cNvPr id="146" name="Picture 145" descr="questions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92040" y="3156147"/>
            <a:ext cx="3566160" cy="1363923"/>
          </a:xfrm>
          <a:prstGeom prst="rect">
            <a:avLst/>
          </a:prstGeom>
        </p:spPr>
      </p:pic>
      <p:sp>
        <p:nvSpPr>
          <p:cNvPr id="147" name="Rectangle 146"/>
          <p:cNvSpPr/>
          <p:nvPr/>
        </p:nvSpPr>
        <p:spPr>
          <a:xfrm>
            <a:off x="4892040" y="3156147"/>
            <a:ext cx="3566160" cy="1363923"/>
          </a:xfrm>
          <a:prstGeom prst="rect">
            <a:avLst/>
          </a:prstGeom>
          <a:noFill/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TextBox 147"/>
          <p:cNvSpPr txBox="1"/>
          <p:nvPr/>
        </p:nvSpPr>
        <p:spPr>
          <a:xfrm>
            <a:off x="4892040" y="456579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4  Viewer questions that need the host, with replies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365760" y="4846320"/>
            <a:ext cx="8412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Cloud Run revision 00028, 10/11. Lines typed into the live judging path (marked "typed"); speech goes through Chirp 3 to the same judges (measured on slide 11).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0" name="Google Shape;140;p24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1" name="Google Shape;141;p24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42" name="Google Shape;142;p24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24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Prototype Performance report/Benchmarking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44" name="TextBox 143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Detection 96.3% and no false alerts on a fresh set; fact checks are slow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365760" y="1463040"/>
            <a:ext cx="19659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493776" y="1527048"/>
            <a:ext cx="1709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Detection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493776" y="1719072"/>
            <a:ext cx="17099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02124"/>
                </a:solidFill>
                <a:latin typeface="Google Sans Flex"/>
              </a:rPr>
              <a:t>96.3%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493776" y="2103120"/>
            <a:ext cx="17099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52 of 54 · other settings 100%</a:t>
            </a:r>
          </a:p>
        </p:txBody>
      </p:sp>
      <p:sp>
        <p:nvSpPr>
          <p:cNvPr id="149" name="Rounded Rectangle 148"/>
          <p:cNvSpPr/>
          <p:nvPr/>
        </p:nvSpPr>
        <p:spPr>
          <a:xfrm>
            <a:off x="493776" y="2304288"/>
            <a:ext cx="977379" cy="180975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none"/>
          <a:lstStyle/>
          <a:p>
            <a:pPr algn="ctr"/>
            <a:r>
              <a:rPr sz="750" b="0">
                <a:solidFill>
                  <a:srgbClr val="1E8E3E"/>
                </a:solidFill>
                <a:latin typeface="Google Sans Flex"/>
              </a:rPr>
              <a:t>Pass line ≥ 95%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2514600" y="1463040"/>
            <a:ext cx="19659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2642616" y="1527048"/>
            <a:ext cx="1709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False alerts on safe lines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2642616" y="1719072"/>
            <a:ext cx="17099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02124"/>
                </a:solidFill>
                <a:latin typeface="Google Sans Flex"/>
              </a:rPr>
              <a:t>0%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2642616" y="2103120"/>
            <a:ext cx="17099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0 of 108 · other settings 0-0.9%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2642616" y="2304288"/>
            <a:ext cx="922858" cy="180975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none"/>
          <a:lstStyle/>
          <a:p>
            <a:pPr algn="ctr"/>
            <a:r>
              <a:rPr sz="750" b="0">
                <a:solidFill>
                  <a:srgbClr val="1E8E3E"/>
                </a:solidFill>
                <a:latin typeface="Google Sans Flex"/>
              </a:rPr>
              <a:t>Pass line &lt; 1%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4663440" y="1463040"/>
            <a:ext cx="19659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4791456" y="1527048"/>
            <a:ext cx="1709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Compliance judge, one call p95</a:t>
            </a:r>
          </a:p>
        </p:txBody>
      </p:sp>
      <p:sp>
        <p:nvSpPr>
          <p:cNvPr id="157" name="TextBox 156"/>
          <p:cNvSpPr txBox="1"/>
          <p:nvPr/>
        </p:nvSpPr>
        <p:spPr>
          <a:xfrm>
            <a:off x="4791456" y="1719072"/>
            <a:ext cx="17099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02124"/>
                </a:solidFill>
                <a:latin typeface="Google Sans Flex"/>
              </a:rPr>
              <a:t>2.9 s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4791456" y="2103120"/>
            <a:ext cx="17099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input to output, no retries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4791456" y="2304288"/>
            <a:ext cx="908456" cy="180975"/>
          </a:xfrm>
          <a:prstGeom prst="roundRect">
            <a:avLst>
              <a:gd name="adj" fmla="val 50000"/>
            </a:avLst>
          </a:prstGeom>
          <a:solidFill>
            <a:srgbClr val="E6F4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none"/>
          <a:lstStyle/>
          <a:p>
            <a:pPr algn="ctr"/>
            <a:r>
              <a:rPr sz="750" b="0">
                <a:solidFill>
                  <a:srgbClr val="1E8E3E"/>
                </a:solidFill>
                <a:latin typeface="Google Sans Flex"/>
              </a:rPr>
              <a:t>Pass line ≤ 5 s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6812280" y="1463040"/>
            <a:ext cx="196596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6940296" y="1527048"/>
            <a:ext cx="1709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>
                <a:solidFill>
                  <a:srgbClr val="5F6368"/>
                </a:solidFill>
                <a:latin typeface="Google Sans Flex"/>
              </a:rPr>
              <a:t>Fact checker, one call p95</a:t>
            </a:r>
          </a:p>
        </p:txBody>
      </p:sp>
      <p:sp>
        <p:nvSpPr>
          <p:cNvPr id="162" name="TextBox 161"/>
          <p:cNvSpPr txBox="1"/>
          <p:nvPr/>
        </p:nvSpPr>
        <p:spPr>
          <a:xfrm>
            <a:off x="6940296" y="1719072"/>
            <a:ext cx="17099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>
                <a:solidFill>
                  <a:srgbClr val="202124"/>
                </a:solidFill>
                <a:latin typeface="Google Sans Flex"/>
              </a:rPr>
              <a:t>31.5 s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6940296" y="2103120"/>
            <a:ext cx="1709928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slow night · 5.3-12.9 s on 10/14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6940296" y="2304288"/>
            <a:ext cx="1344625" cy="180975"/>
          </a:xfrm>
          <a:prstGeom prst="roundRect">
            <a:avLst>
              <a:gd name="adj" fmla="val 50000"/>
            </a:avLst>
          </a:prstGeom>
          <a:solidFill>
            <a:srgbClr val="FCE8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none"/>
          <a:lstStyle/>
          <a:p>
            <a:pPr algn="ctr"/>
            <a:r>
              <a:rPr sz="750" b="0">
                <a:solidFill>
                  <a:srgbClr val="D93025"/>
                </a:solidFill>
                <a:latin typeface="Google Sans Flex"/>
              </a:rPr>
              <a:t>Pass line ≤ 5 s · not met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365760" y="2633472"/>
            <a:ext cx="8412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Sealed set 10: 4 products the app never saw, invented documents; 162 natural host lines in English and Korean spoken by a TTS voice through the real Chirp 3 path (12 lines cut in two on purpose and 6 out-of-scope lines reported apart). Labels by GPT and a blind Claude critic. Red alert on a non-regulation line: 0. Per product 92.3-100%.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365760" y="3035808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Why models judge, not code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65760" y="3255264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Same STT lines (set 5)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2286000" y="3255264"/>
            <a:ext cx="11430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False alerts</a:t>
            </a:r>
          </a:p>
        </p:txBody>
      </p:sp>
      <p:sp>
        <p:nvSpPr>
          <p:cNvPr id="169" name="TextBox 168"/>
          <p:cNvSpPr txBox="1"/>
          <p:nvPr/>
        </p:nvSpPr>
        <p:spPr>
          <a:xfrm>
            <a:off x="3429000" y="3255264"/>
            <a:ext cx="105156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Wrong strongest</a:t>
            </a:r>
          </a:p>
        </p:txBody>
      </p:sp>
      <p:cxnSp>
        <p:nvCxnSpPr>
          <p:cNvPr id="170" name="Connector 169"/>
          <p:cNvCxnSpPr/>
          <p:nvPr/>
        </p:nvCxnSpPr>
        <p:spPr>
          <a:xfrm>
            <a:off x="365760" y="3502152"/>
            <a:ext cx="4114800" cy="0"/>
          </a:xfrm>
          <a:prstGeom prst="line">
            <a:avLst/>
          </a:prstGeom>
          <a:ln w="1587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1" name="TextBox 170"/>
          <p:cNvSpPr txBox="1"/>
          <p:nvPr/>
        </p:nvSpPr>
        <p:spPr>
          <a:xfrm>
            <a:off x="365760" y="3557016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Code rules on top of the model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2286000" y="3557016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D93025"/>
                </a:solidFill>
                <a:latin typeface="Google Sans Flex"/>
              </a:rPr>
              <a:t>19.4%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3429000" y="3557016"/>
            <a:ext cx="9601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5</a:t>
            </a:r>
          </a:p>
        </p:txBody>
      </p:sp>
      <p:cxnSp>
        <p:nvCxnSpPr>
          <p:cNvPr id="174" name="Connector 173"/>
          <p:cNvCxnSpPr/>
          <p:nvPr/>
        </p:nvCxnSpPr>
        <p:spPr>
          <a:xfrm>
            <a:off x="365760" y="3794760"/>
            <a:ext cx="41148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TextBox 174"/>
          <p:cNvSpPr txBox="1"/>
          <p:nvPr/>
        </p:nvSpPr>
        <p:spPr>
          <a:xfrm>
            <a:off x="365760" y="3831336"/>
            <a:ext cx="1828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Model verdicts only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2286000" y="3831336"/>
            <a:ext cx="1051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>
                <a:solidFill>
                  <a:srgbClr val="1E8E3E"/>
                </a:solidFill>
                <a:latin typeface="Google Sans Flex"/>
              </a:rPr>
              <a:t>0.9-1.9%</a:t>
            </a:r>
          </a:p>
        </p:txBody>
      </p:sp>
      <p:sp>
        <p:nvSpPr>
          <p:cNvPr id="177" name="TextBox 176"/>
          <p:cNvSpPr txBox="1"/>
          <p:nvPr/>
        </p:nvSpPr>
        <p:spPr>
          <a:xfrm>
            <a:off x="3429000" y="3831336"/>
            <a:ext cx="96011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>
                <a:solidFill>
                  <a:srgbClr val="202124"/>
                </a:solidFill>
                <a:latin typeface="Google Sans Flex"/>
              </a:rPr>
              <a:t>1</a:t>
            </a:r>
          </a:p>
        </p:txBody>
      </p:sp>
      <p:cxnSp>
        <p:nvCxnSpPr>
          <p:cNvPr id="178" name="Connector 177"/>
          <p:cNvCxnSpPr/>
          <p:nvPr/>
        </p:nvCxnSpPr>
        <p:spPr>
          <a:xfrm>
            <a:off x="365760" y="4069080"/>
            <a:ext cx="41148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9" name="TextBox 178"/>
          <p:cNvSpPr txBox="1"/>
          <p:nvPr/>
        </p:nvSpPr>
        <p:spPr>
          <a:xfrm>
            <a:off x="365760" y="4169663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Detection on each new unseen set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65760" y="4389120"/>
            <a:ext cx="4114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>
                <a:solidFill>
                  <a:srgbClr val="202124"/>
                </a:solidFill>
                <a:latin typeface="Google Sans Flex"/>
              </a:rPr>
              <a:t>84% → 91.0% → 89.6-90.3% → 94.0% → </a:t>
            </a:r>
            <a:r>
              <a:rPr sz="1100" b="1">
                <a:solidFill>
                  <a:srgbClr val="202124"/>
                </a:solidFill>
                <a:latin typeface="Google Sans Flex"/>
              </a:rPr>
              <a:t>96.3%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365760" y="4645152"/>
            <a:ext cx="41148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750" b="0">
                <a:solidFill>
                  <a:srgbClr val="5F6368"/>
                </a:solidFill>
                <a:latin typeface="Google Sans Flex"/>
              </a:rPr>
              <a:t>sets 3, 4, 6, 7, 10 (from set 6 through TTS and STT; earlier sets ran under older conditions)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4663440" y="3035808"/>
            <a:ext cx="4114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Other measured parts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4663440" y="3255264"/>
            <a:ext cx="2514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Test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7178040" y="3255264"/>
            <a:ext cx="16002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00" b="0">
                <a:solidFill>
                  <a:srgbClr val="5F6368"/>
                </a:solidFill>
                <a:latin typeface="Google Sans Flex"/>
              </a:rPr>
              <a:t>Result</a:t>
            </a:r>
          </a:p>
        </p:txBody>
      </p:sp>
      <p:cxnSp>
        <p:nvCxnSpPr>
          <p:cNvPr id="185" name="Connector 184"/>
          <p:cNvCxnSpPr/>
          <p:nvPr/>
        </p:nvCxnSpPr>
        <p:spPr>
          <a:xfrm>
            <a:off x="4663440" y="3502152"/>
            <a:ext cx="4114800" cy="0"/>
          </a:xfrm>
          <a:prstGeom prst="line">
            <a:avLst/>
          </a:prstGeom>
          <a:ln w="1587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6" name="TextBox 185"/>
          <p:cNvSpPr txBox="1"/>
          <p:nvPr/>
        </p:nvSpPr>
        <p:spPr>
          <a:xfrm>
            <a:off x="4663440" y="3557016"/>
            <a:ext cx="2423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Prompter judge, partial vs full points (10/11 probe)</a:t>
            </a:r>
          </a:p>
        </p:txBody>
      </p:sp>
      <p:sp>
        <p:nvSpPr>
          <p:cNvPr id="187" name="TextBox 186"/>
          <p:cNvSpPr txBox="1"/>
          <p:nvPr/>
        </p:nvSpPr>
        <p:spPr>
          <a:xfrm>
            <a:off x="7178040" y="3557016"/>
            <a:ext cx="1508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wrong ticks 0 / 40, missed 0 / 63</a:t>
            </a:r>
          </a:p>
        </p:txBody>
      </p:sp>
      <p:cxnSp>
        <p:nvCxnSpPr>
          <p:cNvPr id="188" name="Connector 187"/>
          <p:cNvCxnSpPr/>
          <p:nvPr/>
        </p:nvCxnSpPr>
        <p:spPr>
          <a:xfrm>
            <a:off x="4663440" y="3813048"/>
            <a:ext cx="41148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9" name="TextBox 188"/>
          <p:cNvSpPr txBox="1"/>
          <p:nvPr/>
        </p:nvSpPr>
        <p:spPr>
          <a:xfrm>
            <a:off x="4663440" y="3849624"/>
            <a:ext cx="2423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Product switch on a category word only</a:t>
            </a:r>
          </a:p>
        </p:txBody>
      </p:sp>
      <p:sp>
        <p:nvSpPr>
          <p:cNvPr id="190" name="TextBox 189"/>
          <p:cNvSpPr txBox="1"/>
          <p:nvPr/>
        </p:nvSpPr>
        <p:spPr>
          <a:xfrm>
            <a:off x="7178040" y="3849624"/>
            <a:ext cx="1508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0 / 5 → 4 / 4 with category</a:t>
            </a:r>
          </a:p>
        </p:txBody>
      </p:sp>
      <p:cxnSp>
        <p:nvCxnSpPr>
          <p:cNvPr id="191" name="Connector 190"/>
          <p:cNvCxnSpPr/>
          <p:nvPr/>
        </p:nvCxnSpPr>
        <p:spPr>
          <a:xfrm>
            <a:off x="4663440" y="4105656"/>
            <a:ext cx="41148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2" name="TextBox 191"/>
          <p:cNvSpPr txBox="1"/>
          <p:nvPr/>
        </p:nvSpPr>
        <p:spPr>
          <a:xfrm>
            <a:off x="4663440" y="4142232"/>
            <a:ext cx="2423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Viewer comments: question / reaction / hide (233)</a:t>
            </a:r>
          </a:p>
        </p:txBody>
      </p:sp>
      <p:sp>
        <p:nvSpPr>
          <p:cNvPr id="193" name="TextBox 192"/>
          <p:cNvSpPr txBox="1"/>
          <p:nvPr/>
        </p:nvSpPr>
        <p:spPr>
          <a:xfrm>
            <a:off x="7178040" y="4142232"/>
            <a:ext cx="1508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99.6%</a:t>
            </a:r>
          </a:p>
        </p:txBody>
      </p:sp>
      <p:cxnSp>
        <p:nvCxnSpPr>
          <p:cNvPr id="194" name="Connector 193"/>
          <p:cNvCxnSpPr/>
          <p:nvPr/>
        </p:nvCxnSpPr>
        <p:spPr>
          <a:xfrm>
            <a:off x="4663440" y="4398264"/>
            <a:ext cx="41148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5" name="TextBox 194"/>
          <p:cNvSpPr txBox="1"/>
          <p:nvPr/>
        </p:nvSpPr>
        <p:spPr>
          <a:xfrm>
            <a:off x="4663440" y="4434840"/>
            <a:ext cx="24231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Comments: auto vs needs a person, as labelled</a:t>
            </a:r>
          </a:p>
        </p:txBody>
      </p:sp>
      <p:sp>
        <p:nvSpPr>
          <p:cNvPr id="196" name="TextBox 195"/>
          <p:cNvSpPr txBox="1"/>
          <p:nvPr/>
        </p:nvSpPr>
        <p:spPr>
          <a:xfrm>
            <a:off x="7178040" y="4434840"/>
            <a:ext cx="15087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202124"/>
                </a:solidFill>
                <a:latin typeface="Google Sans Flex"/>
              </a:rPr>
              <a:t>90.6% · injection replies 0</a:t>
            </a:r>
          </a:p>
        </p:txBody>
      </p:sp>
      <p:cxnSp>
        <p:nvCxnSpPr>
          <p:cNvPr id="197" name="Connector 196"/>
          <p:cNvCxnSpPr/>
          <p:nvPr/>
        </p:nvCxnSpPr>
        <p:spPr>
          <a:xfrm>
            <a:off x="4663440" y="4690872"/>
            <a:ext cx="4114800" cy="0"/>
          </a:xfrm>
          <a:prstGeom prst="line">
            <a:avLst/>
          </a:prstGeom>
          <a:ln w="9525">
            <a:solidFill>
              <a:srgbClr val="BDC1C6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8" name="TextBox 197"/>
          <p:cNvSpPr txBox="1"/>
          <p:nvPr/>
        </p:nvSpPr>
        <p:spPr>
          <a:xfrm>
            <a:off x="365760" y="4864608"/>
            <a:ext cx="8412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0">
                <a:solidFill>
                  <a:srgbClr val="D93025"/>
                </a:solidFill>
                <a:latin typeface="Google Sans Flex"/>
              </a:rPr>
              <a:t>Measured on the current judge setting with a TTS voice; no real human host yet. A slow fact check now shows late instead of being dropped.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8" name="Google Shape;148;p25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49" name="Google Shape;149;p25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0" name="Google Shape;150;p25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25"/>
          <p:cNvSpPr txBox="1"/>
          <p:nvPr/>
        </p:nvSpPr>
        <p:spPr>
          <a:xfrm>
            <a:off x="265350" y="663825"/>
            <a:ext cx="8943000" cy="561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Additional Details/Future Development (if any)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52" name="TextBox 151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Flags people act on; next, faster fact checks and a larger test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365760" y="1481328"/>
            <a:ext cx="411480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530352" y="1572768"/>
            <a:ext cx="37856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E8E3E"/>
                </a:solidFill>
                <a:latin typeface="Google Sans Flex"/>
              </a:rPr>
              <a:t>Responsible AI (in the prototype)</a:t>
            </a:r>
          </a:p>
        </p:txBody>
      </p:sp>
      <p:pic>
        <p:nvPicPr>
          <p:cNvPr id="155" name="Picture 154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1938528"/>
            <a:ext cx="219456" cy="219456"/>
          </a:xfrm>
          <a:prstGeom prst="rect">
            <a:avLst/>
          </a:prstGeom>
        </p:spPr>
      </p:pic>
      <p:sp>
        <p:nvSpPr>
          <p:cNvPr id="156" name="TextBox 155"/>
          <p:cNvSpPr txBox="1"/>
          <p:nvPr/>
        </p:nvSpPr>
        <p:spPr>
          <a:xfrm>
            <a:off x="859536" y="1920240"/>
            <a:ext cx="34564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A red box marks a claim for the host to fix. It is not a legal ruling.</a:t>
            </a:r>
          </a:p>
        </p:txBody>
      </p:sp>
      <p:pic>
        <p:nvPicPr>
          <p:cNvPr id="157" name="Picture 156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2505456"/>
            <a:ext cx="219456" cy="219456"/>
          </a:xfrm>
          <a:prstGeom prst="rect">
            <a:avLst/>
          </a:prstGeom>
        </p:spPr>
      </p:pic>
      <p:sp>
        <p:nvSpPr>
          <p:cNvPr id="158" name="TextBox 157"/>
          <p:cNvSpPr txBox="1"/>
          <p:nvPr/>
        </p:nvSpPr>
        <p:spPr>
          <a:xfrm>
            <a:off x="859536" y="2487168"/>
            <a:ext cx="34564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The line to say instead is built only from the product's approved claims.</a:t>
            </a:r>
          </a:p>
        </p:txBody>
      </p:sp>
      <p:pic>
        <p:nvPicPr>
          <p:cNvPr id="159" name="Picture 158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072384"/>
            <a:ext cx="219456" cy="219456"/>
          </a:xfrm>
          <a:prstGeom prst="rect">
            <a:avLst/>
          </a:prstGeom>
        </p:spPr>
      </p:pic>
      <p:sp>
        <p:nvSpPr>
          <p:cNvPr id="160" name="TextBox 159"/>
          <p:cNvSpPr txBox="1"/>
          <p:nvPr/>
        </p:nvSpPr>
        <p:spPr>
          <a:xfrm>
            <a:off x="859536" y="3054096"/>
            <a:ext cx="34564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Health, claim and test-result questions wait for a person; automatic replies say "AI answer".</a:t>
            </a:r>
          </a:p>
        </p:txBody>
      </p:sp>
      <p:pic>
        <p:nvPicPr>
          <p:cNvPr id="161" name="Picture 160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3639312"/>
            <a:ext cx="219456" cy="219456"/>
          </a:xfrm>
          <a:prstGeom prst="rect">
            <a:avLst/>
          </a:prstGeom>
        </p:spPr>
      </p:pic>
      <p:sp>
        <p:nvSpPr>
          <p:cNvPr id="162" name="TextBox 161"/>
          <p:cNvSpPr txBox="1"/>
          <p:nvPr/>
        </p:nvSpPr>
        <p:spPr>
          <a:xfrm>
            <a:off x="859536" y="3621024"/>
            <a:ext cx="34564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Judge calls are stored with input, output and tokens; code never drops a verdict.</a:t>
            </a:r>
          </a:p>
        </p:txBody>
      </p:sp>
      <p:pic>
        <p:nvPicPr>
          <p:cNvPr id="163" name="Picture 162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4206240"/>
            <a:ext cx="219456" cy="219456"/>
          </a:xfrm>
          <a:prstGeom prst="rect">
            <a:avLst/>
          </a:prstGeom>
        </p:spPr>
      </p:pic>
      <p:sp>
        <p:nvSpPr>
          <p:cNvPr id="164" name="TextBox 163"/>
          <p:cNvSpPr txBox="1"/>
          <p:nvPr/>
        </p:nvSpPr>
        <p:spPr>
          <a:xfrm>
            <a:off x="859536" y="4187952"/>
            <a:ext cx="34564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No product-specific prompts: a new product enters only through its documents.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4663440" y="1481328"/>
            <a:ext cx="4114800" cy="3383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4828032" y="1572768"/>
            <a:ext cx="37856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1A73E8"/>
                </a:solidFill>
                <a:latin typeface="Google Sans Flex"/>
              </a:rPr>
              <a:t>Next (planned, not in the prototype)</a:t>
            </a:r>
          </a:p>
        </p:txBody>
      </p:sp>
      <p:pic>
        <p:nvPicPr>
          <p:cNvPr id="167" name="Picture 166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1938528"/>
            <a:ext cx="219456" cy="219456"/>
          </a:xfrm>
          <a:prstGeom prst="rect">
            <a:avLst/>
          </a:prstGeom>
        </p:spPr>
      </p:pic>
      <p:sp>
        <p:nvSpPr>
          <p:cNvPr id="168" name="TextBox 167"/>
          <p:cNvSpPr txBox="1"/>
          <p:nvPr/>
        </p:nvSpPr>
        <p:spPr>
          <a:xfrm>
            <a:off x="5157216" y="1920240"/>
            <a:ext cx="34564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Faster fact checks: a quicker model when Gemini 3.8 Flash is slow.</a:t>
            </a:r>
          </a:p>
        </p:txBody>
      </p:sp>
      <p:pic>
        <p:nvPicPr>
          <p:cNvPr id="169" name="Picture 16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2505456"/>
            <a:ext cx="219456" cy="219456"/>
          </a:xfrm>
          <a:prstGeom prst="rect">
            <a:avLst/>
          </a:prstGeom>
        </p:spPr>
      </p:pic>
      <p:sp>
        <p:nvSpPr>
          <p:cNvPr id="170" name="TextBox 169"/>
          <p:cNvSpPr txBox="1"/>
          <p:nvPr/>
        </p:nvSpPr>
        <p:spPr>
          <a:xfrm>
            <a:off x="5157216" y="2487168"/>
            <a:ext cx="34564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Test with a real human host and two hosts speaking over each other.</a:t>
            </a:r>
          </a:p>
        </p:txBody>
      </p:sp>
      <p:pic>
        <p:nvPicPr>
          <p:cNvPr id="171" name="Picture 170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3072384"/>
            <a:ext cx="219456" cy="219456"/>
          </a:xfrm>
          <a:prstGeom prst="rect">
            <a:avLst/>
          </a:prstGeom>
        </p:spPr>
      </p:pic>
      <p:sp>
        <p:nvSpPr>
          <p:cNvPr id="172" name="TextBox 171"/>
          <p:cNvSpPr txBox="1"/>
          <p:nvPr/>
        </p:nvSpPr>
        <p:spPr>
          <a:xfrm>
            <a:off x="5157216" y="3054096"/>
            <a:ext cx="34564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A larger sealed set (set 10 had 4 products and 54 violations).</a:t>
            </a:r>
          </a:p>
        </p:txBody>
      </p:sp>
      <p:pic>
        <p:nvPicPr>
          <p:cNvPr id="173" name="Picture 172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3639312"/>
            <a:ext cx="219456" cy="219456"/>
          </a:xfrm>
          <a:prstGeom prst="rect">
            <a:avLst/>
          </a:prstGeom>
        </p:spPr>
      </p:pic>
      <p:sp>
        <p:nvSpPr>
          <p:cNvPr id="174" name="TextBox 173"/>
          <p:cNvSpPr txBox="1"/>
          <p:nvPr/>
        </p:nvSpPr>
        <p:spPr>
          <a:xfrm>
            <a:off x="5157216" y="3621024"/>
            <a:ext cx="34564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Log repeat requests so the cost per show is complete.</a:t>
            </a:r>
          </a:p>
        </p:txBody>
      </p:sp>
      <p:pic>
        <p:nvPicPr>
          <p:cNvPr id="175" name="Picture 174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4206240"/>
            <a:ext cx="219456" cy="219456"/>
          </a:xfrm>
          <a:prstGeom prst="rect">
            <a:avLst/>
          </a:prstGeom>
        </p:spPr>
      </p:pic>
      <p:sp>
        <p:nvSpPr>
          <p:cNvPr id="176" name="TextBox 175"/>
          <p:cNvSpPr txBox="1"/>
          <p:nvPr/>
        </p:nvSpPr>
        <p:spPr>
          <a:xfrm>
            <a:off x="5157216" y="4187952"/>
            <a:ext cx="345643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202124"/>
                </a:solidFill>
                <a:latin typeface="Google Sans Flex"/>
              </a:rPr>
              <a:t>Copy AI-call logs to BigQuery for analysis across shows.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26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26" title="Group 427319979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1"/>
            <a:ext cx="9144000" cy="507359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26"/>
          <p:cNvSpPr/>
          <p:nvPr/>
        </p:nvSpPr>
        <p:spPr>
          <a:xfrm>
            <a:off x="-29250" y="5071875"/>
            <a:ext cx="9173400" cy="97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26"/>
          <p:cNvSpPr txBox="1"/>
          <p:nvPr/>
        </p:nvSpPr>
        <p:spPr>
          <a:xfrm>
            <a:off x="265350" y="663825"/>
            <a:ext cx="8943000" cy="1333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Google Sans Flex Medium"/>
                <a:ea typeface="Google Sans Flex Medium"/>
                <a:cs typeface="Google Sans Flex Medium"/>
                <a:sym typeface="Google Sans Flex Medium"/>
              </a:rPr>
              <a:t>Provide links to your:</a:t>
            </a:r>
            <a:endParaRPr sz="1600">
              <a:latin typeface="Google Sans Flex Medium"/>
              <a:ea typeface="Google Sans Flex Medium"/>
              <a:cs typeface="Google Sans Flex Medium"/>
              <a:sym typeface="Google Sans Flex Medium"/>
            </a:endParaRPr>
          </a:p>
        </p:txBody>
      </p:sp>
      <p:sp>
        <p:nvSpPr>
          <p:cNvPr id="160" name="TextBox 159"/>
          <p:cNvSpPr txBox="1"/>
          <p:nvPr/>
        </p:nvSpPr>
        <p:spPr>
          <a:xfrm>
            <a:off x="365760" y="1024128"/>
            <a:ext cx="8412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>
                <a:solidFill>
                  <a:srgbClr val="202124"/>
                </a:solidFill>
                <a:latin typeface="Google Sans Flex"/>
              </a:rPr>
              <a:t>Try it: start a show, say a claim, then take it back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365760" y="1508760"/>
            <a:ext cx="268224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530352" y="1609344"/>
            <a:ext cx="23530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02124"/>
                </a:solidFill>
                <a:latin typeface="Google Sans Flex"/>
              </a:rPr>
              <a:t>GitHub Public Repository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530352" y="1956816"/>
            <a:ext cx="23530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1A73E8"/>
                </a:solidFill>
                <a:latin typeface="Google Sans Flex"/>
                <a:hlinkClick r:id="rId5"/>
              </a:rPr>
              <a:t>github.com/jwchoiKR/ai_builder_cup_uh</a:t>
            </a:r>
          </a:p>
        </p:txBody>
      </p:sp>
      <p:sp>
        <p:nvSpPr>
          <p:cNvPr id="164" name="Rounded Rectangle 163"/>
          <p:cNvSpPr/>
          <p:nvPr/>
        </p:nvSpPr>
        <p:spPr>
          <a:xfrm>
            <a:off x="3230880" y="1508760"/>
            <a:ext cx="268224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3395472" y="1609344"/>
            <a:ext cx="23530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02124"/>
                </a:solidFill>
                <a:latin typeface="Google Sans Flex"/>
              </a:rPr>
              <a:t>Demo Video Link (3 Minutes)</a:t>
            </a:r>
          </a:p>
        </p:txBody>
      </p:sp>
      <p:sp>
        <p:nvSpPr>
          <p:cNvPr id="166" name="Rounded Rectangle 165"/>
          <p:cNvSpPr/>
          <p:nvPr/>
        </p:nvSpPr>
        <p:spPr>
          <a:xfrm>
            <a:off x="3395472" y="1956816"/>
            <a:ext cx="894466" cy="217170"/>
          </a:xfrm>
          <a:prstGeom prst="roundRect">
            <a:avLst>
              <a:gd name="adj" fmla="val 50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none"/>
          <a:lstStyle/>
          <a:p>
            <a:pPr algn="ctr"/>
            <a:r>
              <a:rPr sz="900" b="0">
                <a:solidFill>
                  <a:srgbClr val="B06000"/>
                </a:solidFill>
                <a:latin typeface="Google Sans Flex"/>
              </a:rPr>
              <a:t>to be added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6096000" y="1508760"/>
            <a:ext cx="2682240" cy="86868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9525">
            <a:solidFill>
              <a:srgbClr val="BDC1C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TextBox 167"/>
          <p:cNvSpPr txBox="1"/>
          <p:nvPr/>
        </p:nvSpPr>
        <p:spPr>
          <a:xfrm>
            <a:off x="6260592" y="1609344"/>
            <a:ext cx="23530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>
                <a:solidFill>
                  <a:srgbClr val="202124"/>
                </a:solidFill>
                <a:latin typeface="Google Sans Flex"/>
              </a:rPr>
              <a:t>Final Product Link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6260592" y="1956816"/>
            <a:ext cx="894466" cy="217170"/>
          </a:xfrm>
          <a:prstGeom prst="roundRect">
            <a:avLst>
              <a:gd name="adj" fmla="val 50000"/>
            </a:avLst>
          </a:prstGeom>
          <a:solidFill>
            <a:srgbClr val="FEF7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tIns="54864" bIns="54864" wrap="none"/>
          <a:lstStyle/>
          <a:p>
            <a:pPr algn="ctr"/>
            <a:r>
              <a:rPr sz="900" b="0">
                <a:solidFill>
                  <a:srgbClr val="B06000"/>
                </a:solidFill>
                <a:latin typeface="Google Sans Flex"/>
              </a:rPr>
              <a:t>to be added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365760" y="2606040"/>
            <a:ext cx="84124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>
                <a:solidFill>
                  <a:srgbClr val="1A73E8"/>
                </a:solidFill>
                <a:latin typeface="Google Sans Flex"/>
              </a:rPr>
              <a:t>Three steps for an evaluator</a:t>
            </a:r>
          </a:p>
        </p:txBody>
      </p:sp>
      <p:sp>
        <p:nvSpPr>
          <p:cNvPr id="171" name="Rounded Rectangle 170"/>
          <p:cNvSpPr/>
          <p:nvPr/>
        </p:nvSpPr>
        <p:spPr>
          <a:xfrm>
            <a:off x="365760" y="2880360"/>
            <a:ext cx="2682240" cy="777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2" name="Oval 171"/>
          <p:cNvSpPr/>
          <p:nvPr/>
        </p:nvSpPr>
        <p:spPr>
          <a:xfrm>
            <a:off x="512064" y="3136392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1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877824" y="2880360"/>
            <a:ext cx="2042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Open the hub and start a show from an approved product</a:t>
            </a:r>
          </a:p>
        </p:txBody>
      </p:sp>
      <p:sp>
        <p:nvSpPr>
          <p:cNvPr id="174" name="Rounded Rectangle 173"/>
          <p:cNvSpPr/>
          <p:nvPr/>
        </p:nvSpPr>
        <p:spPr>
          <a:xfrm>
            <a:off x="3230880" y="2880360"/>
            <a:ext cx="2682240" cy="777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Oval 174"/>
          <p:cNvSpPr/>
          <p:nvPr/>
        </p:nvSpPr>
        <p:spPr>
          <a:xfrm>
            <a:off x="3377184" y="3136392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2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3742944" y="2880360"/>
            <a:ext cx="2042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Say "This cream treats eczema" and watch the red box</a:t>
            </a:r>
          </a:p>
        </p:txBody>
      </p:sp>
      <p:sp>
        <p:nvSpPr>
          <p:cNvPr id="177" name="Right Arrow 176"/>
          <p:cNvSpPr/>
          <p:nvPr/>
        </p:nvSpPr>
        <p:spPr>
          <a:xfrm>
            <a:off x="3066287" y="3209544"/>
            <a:ext cx="146304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6096000" y="2880360"/>
            <a:ext cx="2682240" cy="777240"/>
          </a:xfrm>
          <a:prstGeom prst="roundRect">
            <a:avLst>
              <a:gd name="adj" fmla="val 7000"/>
            </a:avLst>
          </a:prstGeom>
          <a:solidFill>
            <a:srgbClr val="FFFFFF"/>
          </a:solidFill>
          <a:ln w="19050">
            <a:solidFill>
              <a:srgbClr val="1A73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Oval 178"/>
          <p:cNvSpPr/>
          <p:nvPr/>
        </p:nvSpPr>
        <p:spPr>
          <a:xfrm>
            <a:off x="6242304" y="3136392"/>
            <a:ext cx="256032" cy="256032"/>
          </a:xfrm>
          <a:prstGeom prst="ellipse">
            <a:avLst/>
          </a:prstGeom>
          <a:solidFill>
            <a:srgbClr val="1A7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 wrap="square"/>
          <a:lstStyle/>
          <a:p>
            <a:pPr algn="ctr"/>
            <a:r>
              <a:rPr sz="950" b="1">
                <a:solidFill>
                  <a:srgbClr val="FFFFFF"/>
                </a:solidFill>
                <a:latin typeface="Google Sans Flex"/>
              </a:rPr>
              <a:t>3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6608064" y="2880360"/>
            <a:ext cx="20421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>
                <a:solidFill>
                  <a:srgbClr val="202124"/>
                </a:solidFill>
                <a:latin typeface="Google Sans Flex"/>
              </a:rPr>
              <a:t>Read the line it shows and watch the box clear</a:t>
            </a:r>
          </a:p>
        </p:txBody>
      </p:sp>
      <p:sp>
        <p:nvSpPr>
          <p:cNvPr id="181" name="Right Arrow 180"/>
          <p:cNvSpPr/>
          <p:nvPr/>
        </p:nvSpPr>
        <p:spPr>
          <a:xfrm>
            <a:off x="5931408" y="3209544"/>
            <a:ext cx="146304" cy="109728"/>
          </a:xfrm>
          <a:prstGeom prst="rightArrow">
            <a:avLst/>
          </a:prstGeom>
          <a:solidFill>
            <a:srgbClr val="9AA0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2" name="TextBox 181"/>
          <p:cNvSpPr txBox="1"/>
          <p:nvPr/>
        </p:nvSpPr>
        <p:spPr>
          <a:xfrm>
            <a:off x="365760" y="3840480"/>
            <a:ext cx="84124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>
                <a:solidFill>
                  <a:srgbClr val="5F6368"/>
                </a:solidFill>
                <a:latin typeface="Google Sans Flex"/>
              </a:rPr>
              <a:t>Every alert comes from the live models on the same path as a real show; nothing is pre-stored. Speak into the browser mic on the host screen.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8" title="Frame 144.png"/>
          <p:cNvPicPr preferRelativeResize="0"/>
          <p:nvPr/>
        </p:nvPicPr>
        <p:blipFill rotWithShape="1">
          <a:blip r:embed="rId3">
            <a:alphaModFix/>
          </a:blip>
          <a:srcRect b="98001" l="0" r="0" t="0"/>
          <a:stretch/>
        </p:blipFill>
        <p:spPr>
          <a:xfrm>
            <a:off x="0" y="5093562"/>
            <a:ext cx="9144000" cy="54275"/>
          </a:xfrm>
          <a:prstGeom prst="rect">
            <a:avLst/>
          </a:prstGeom>
          <a:noFill/>
          <a:ln>
            <a:noFill/>
          </a:ln>
        </p:spPr>
      </p:pic>
      <p:pic>
        <p:nvPicPr>
          <p:cNvPr id="172" name="Google Shape;172;p28" title="Frame 145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0" y="0"/>
            <a:ext cx="9144000" cy="514351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